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svg" ContentType="image/svg+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showSpecialPlsOnTitleSld="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algn="l" defTabSz="609585" eaLnBrk="1" hangingPunct="1" latinLnBrk="0" marL="0" rtl="0">
      <a:defRPr kern="1200" sz="2400">
        <a:solidFill>
          <a:schemeClr val="tx1"/>
        </a:solidFill>
        <a:latin typeface="+mn-lt"/>
        <a:ea typeface="+mn-ea"/>
        <a:cs typeface="+mn-cs"/>
      </a:defRPr>
    </a:lvl1pPr>
    <a:lvl2pPr algn="l" defTabSz="609585" eaLnBrk="1" hangingPunct="1" latinLnBrk="0" marL="609585" rtl="0">
      <a:defRPr kern="1200" sz="2400">
        <a:solidFill>
          <a:schemeClr val="tx1"/>
        </a:solidFill>
        <a:latin typeface="+mn-lt"/>
        <a:ea typeface="+mn-ea"/>
        <a:cs typeface="+mn-cs"/>
      </a:defRPr>
    </a:lvl2pPr>
    <a:lvl3pPr algn="l" defTabSz="609585" eaLnBrk="1" hangingPunct="1" latinLnBrk="0" marL="1219170" rtl="0">
      <a:defRPr kern="1200" sz="2400">
        <a:solidFill>
          <a:schemeClr val="tx1"/>
        </a:solidFill>
        <a:latin typeface="+mn-lt"/>
        <a:ea typeface="+mn-ea"/>
        <a:cs typeface="+mn-cs"/>
      </a:defRPr>
    </a:lvl3pPr>
    <a:lvl4pPr algn="l" defTabSz="609585" eaLnBrk="1" hangingPunct="1" latinLnBrk="0" marL="1828754" rtl="0">
      <a:defRPr kern="1200" sz="2400">
        <a:solidFill>
          <a:schemeClr val="tx1"/>
        </a:solidFill>
        <a:latin typeface="+mn-lt"/>
        <a:ea typeface="+mn-ea"/>
        <a:cs typeface="+mn-cs"/>
      </a:defRPr>
    </a:lvl4pPr>
    <a:lvl5pPr algn="l" defTabSz="609585" eaLnBrk="1" hangingPunct="1" latinLnBrk="0" marL="2438339" rtl="0">
      <a:defRPr kern="1200" sz="2400">
        <a:solidFill>
          <a:schemeClr val="tx1"/>
        </a:solidFill>
        <a:latin typeface="+mn-lt"/>
        <a:ea typeface="+mn-ea"/>
        <a:cs typeface="+mn-cs"/>
      </a:defRPr>
    </a:lvl5pPr>
    <a:lvl6pPr algn="l" defTabSz="609585" eaLnBrk="1" hangingPunct="1" latinLnBrk="0" marL="3047924" rtl="0">
      <a:defRPr kern="1200" sz="2400">
        <a:solidFill>
          <a:schemeClr val="tx1"/>
        </a:solidFill>
        <a:latin typeface="+mn-lt"/>
        <a:ea typeface="+mn-ea"/>
        <a:cs typeface="+mn-cs"/>
      </a:defRPr>
    </a:lvl6pPr>
    <a:lvl7pPr algn="l" defTabSz="609585" eaLnBrk="1" hangingPunct="1" latinLnBrk="0" marL="3657509" rtl="0">
      <a:defRPr kern="1200" sz="2400">
        <a:solidFill>
          <a:schemeClr val="tx1"/>
        </a:solidFill>
        <a:latin typeface="+mn-lt"/>
        <a:ea typeface="+mn-ea"/>
        <a:cs typeface="+mn-cs"/>
      </a:defRPr>
    </a:lvl7pPr>
    <a:lvl8pPr algn="l" defTabSz="609585" eaLnBrk="1" hangingPunct="1" latinLnBrk="0" marL="4267093" rtl="0">
      <a:defRPr kern="1200" sz="2400">
        <a:solidFill>
          <a:schemeClr val="tx1"/>
        </a:solidFill>
        <a:latin typeface="+mn-lt"/>
        <a:ea typeface="+mn-ea"/>
        <a:cs typeface="+mn-cs"/>
      </a:defRPr>
    </a:lvl8pPr>
    <a:lvl9pPr algn="l" defTabSz="609585" eaLnBrk="1" hangingPunct="1" latinLnBrk="0" marL="4876678" rtl="0">
      <a:defRPr kern="1200" sz="24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B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478"/>
    <p:restoredTop autoAdjust="0" sz="94693"/>
  </p:normalViewPr>
  <p:slideViewPr>
    <p:cSldViewPr snapToGrid="0" snapToObjects="1">
      <p:cViewPr varScale="1">
        <p:scale>
          <a:sx d="100" n="160"/>
          <a:sy d="100" n="160"/>
        </p:scale>
        <p:origin x="176" y="320"/>
      </p:cViewPr>
      <p:guideLst>
        <p:guide orient="horz" pos="2160"/>
        <p:guide pos="384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notesMaster" Target="notesMasters/notesMaster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Based on the previous sessions, you should all have R and RStudio installed, please check which versions you have. One additional pre-requisite is the Zotero tool and the Zotero connector, which we will need for the practical part today.</a:t>
            </a:r>
          </a:p>
          <a:p>
            <a:pPr lvl="0" indent="0" marL="0">
              <a:buNone/>
            </a:pPr>
          </a:p>
          <a:p>
            <a:pPr lvl="0" indent="0" marL="0">
              <a:buNone/>
            </a:pPr>
            <a:r>
              <a:rPr b="1"/>
              <a:t>Instructor Notes</a:t>
            </a:r>
            <a:r>
              <a:rPr/>
              <a:t>: If you are short on time, provide these prerequisites to your learners as part of the preparation for this session. Remind them that they can download Zotero also later when starting the practical part.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You should already be familiar with the basic idea of a literature review, including how to search for and access scientific papers, on platforms such as like Google Scholar. Here is an image of the Google Scholar interface with some papers displayed.</a:t>
            </a:r>
          </a:p>
          <a:p>
            <a:pPr lvl="0" indent="0" marL="0">
              <a:buNone/>
            </a:pPr>
          </a:p>
          <a:p>
            <a:pPr lvl="0" indent="0" marL="0">
              <a:buNone/>
            </a:pPr>
            <a:r>
              <a:rPr b="1"/>
              <a:t>Instructor Notes</a:t>
            </a:r>
            <a:r>
              <a:rPr/>
              <a:t>: Before proceeding, briefly confirm that learners are comfortable with the concept of a literature review and know how to locate academic articles. If needed, give a detailed overview of the Google Scholar interface, or have them navigate it online by themselves.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any of the previous sessions?</a:t>
            </a:r>
          </a:p>
          <a:p>
            <a:pPr lvl="0" indent="0" marL="0">
              <a:buNone/>
            </a:pPr>
          </a:p>
          <a:p>
            <a:pPr lvl="0" indent="0" marL="0">
              <a:buNone/>
            </a:pPr>
            <a:r>
              <a:rPr b="1"/>
              <a:t>Instructor Notes</a:t>
            </a:r>
            <a:r>
              <a:rPr/>
              <a:t>:</a:t>
            </a:r>
          </a:p>
          <a:p>
            <a:pPr lvl="0" indent="0" marL="0">
              <a:buNone/>
            </a:pPr>
          </a:p>
          <a:p>
            <a:pPr lvl="0"/>
            <a:r>
              <a:rPr b="1"/>
              <a:t>Aim</a:t>
            </a:r>
            <a:r>
              <a:rPr/>
              <a:t>: This first slide is dedicated to clarifying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we’ll take a short survey. The aim here is simply to understand your current familiarity.</a:t>
            </a:r>
          </a:p>
          <a:p>
            <a:pPr lvl="0" indent="0" marL="0">
              <a:buNone/>
            </a:pPr>
          </a:p>
          <a:p>
            <a:pPr lvl="0" indent="0" marL="0">
              <a:buNone/>
            </a:pPr>
            <a:r>
              <a:rPr/>
              <a:t>In the next few slides, you’ll see some questions that invite you to reflect on where you’re starting from. This isn’t a test, and it is not about getting the right answers.</a:t>
            </a:r>
          </a:p>
          <a:p>
            <a:pPr lvl="0" indent="0" marL="0">
              <a:buNone/>
            </a:pPr>
          </a:p>
          <a:p>
            <a:pPr lvl="0" indent="0" marL="0">
              <a:buNone/>
            </a:pPr>
            <a:r>
              <a:rPr/>
              <a:t>If you’re unsure, that is completely fine, just respond based on what feels closest to your current understanding.</a:t>
            </a:r>
          </a:p>
          <a:p>
            <a:pPr lvl="0" indent="0" marL="0">
              <a:buNone/>
            </a:pPr>
          </a:p>
          <a:p>
            <a:pPr lvl="0" indent="0" marL="0">
              <a:buNone/>
            </a:pPr>
            <a:r>
              <a:rPr b="1"/>
              <a:t>Instructor Notes</a:t>
            </a:r>
            <a:r>
              <a:rPr/>
              <a:t>: Set a low-stakes, supportive tone before beginning the survey. Emphasize that uncertainty is expected and valuable for measuring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citing literature and using Zotero. Emphasize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take a moment to see where we are in terms of the topics we have covered so far and what is coming next.</a:t>
            </a:r>
          </a:p>
          <a:p>
            <a:pPr lvl="0" indent="0" marL="0">
              <a:buNone/>
            </a:pPr>
          </a:p>
          <a:p>
            <a:pPr lvl="0" indent="0" marL="0">
              <a:buNone/>
            </a:pPr>
            <a:r>
              <a:rPr/>
              <a:t>Previously, you became familiar with the basics of R, built on those skills with more advanced R techniques, and explored version control using Git. You also practiced collaborative workflows with GitHub and got an introduction to Quarto as a reproducible writing and publishing tool.</a:t>
            </a:r>
          </a:p>
          <a:p>
            <a:pPr lvl="0" indent="0" marL="0">
              <a:buNone/>
            </a:pPr>
          </a:p>
          <a:p>
            <a:pPr lvl="0" indent="0" marL="0">
              <a:buNone/>
            </a:pPr>
            <a:r>
              <a:rPr/>
              <a:t>Up next, we will shift focus to citations and references—what they are, why they are important, and when and how to use them in your work. Following that, we will learn about citation management tools, specifically how to use Zotero to organize your references and integrate them seamlessly into your research workflow.</a:t>
            </a:r>
          </a:p>
          <a:p>
            <a:pPr lvl="0" indent="0" marL="0">
              <a:buNone/>
            </a:pPr>
          </a:p>
          <a:p>
            <a:pPr lvl="0" indent="0" marL="0">
              <a:buNone/>
            </a:pPr>
            <a:r>
              <a:rPr b="1"/>
              <a:t>Instructor Notes</a:t>
            </a:r>
            <a:r>
              <a:rPr/>
              <a:t>: Make sure that your learners can picture the broader context we are placing this session in.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the session. At this stage, you’re not expected to fully understand or master all of these points. Think of them as a roadmap rather than a checklist; they show where we’re headed, not what you already need to know. You can use these goals to keep track of your learning, notice what feels clear, and identify areas where you might want to ask questions later. First, you will first understand the importance of citing scientific literature and using citation management tools.</a:t>
            </a:r>
          </a:p>
          <a:p>
            <a:pPr lvl="0" indent="0" marL="0">
              <a:buNone/>
            </a:pPr>
          </a:p>
          <a:p>
            <a:pPr lvl="0" indent="0" marL="0">
              <a:buNone/>
            </a:pPr>
            <a:r>
              <a:rPr b="1"/>
              <a:t>Instructor Notes</a:t>
            </a:r>
            <a:r>
              <a:rPr/>
              <a:t>: Use this slide to set expectations and reduce pressure. Emphasize that learning goals will be revisited throughout the session for reflection and self-assessment. Avoid explaining each goal in detail here; instead, frame them as guiding anchors that will be unpacked gradually through activities and tutorials. You will then become familiar with different citation formats, particularly those based on Citation Style Language (CSL). Next, you will learn how to set up and organize your own personal Zotero library. You will practice importing references, organizing them into collections, adding tags and notes, attaching PDFs, and structuring your library in a way that supports an efficient and manageable research workflow. After that, you will develop a referencing workflow in Quarto and RStudio. Finally, you will develop a referencing workflow in MS Word. Using Zotero’s Word plugin, you will insert citations directly into your text, switch easily between citation styles, and automatically generate and update your bibliography as your document evolves.</a:t>
            </a:r>
          </a:p>
          <a:p>
            <a:pPr lvl="0" indent="0" marL="0">
              <a:buNone/>
            </a:pPr>
          </a:p>
          <a:p>
            <a:pPr lvl="0" indent="0" marL="0">
              <a:buNone/>
            </a:pPr>
            <a:r>
              <a:rPr b="1"/>
              <a:t>Accessibility Tip:</a:t>
            </a:r>
            <a:r>
              <a:rPr/>
              <a:t> Pause briefly between them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reading various scientific papers to collect knowledge (review of literature). When you share this knowledge, you’d be asked: “What is the source?”</a:t>
            </a:r>
          </a:p>
          <a:p>
            <a:pPr lvl="0" indent="0" marL="0">
              <a:buNone/>
            </a:pPr>
          </a:p>
          <a:p>
            <a:pPr lvl="0" indent="0" marL="0">
              <a:buNone/>
            </a:pPr>
            <a:r>
              <a:rPr/>
              <a:t>Let us imagine a bizarre example: someone claims that eating aloe vera improves your dance skills. In everyday life, you might respond, ‘Trust me, bro!’ and leave it at that. But in the scientific world, we need to provide evidence for every claim we make. When you collect knowledge from scientific papers, e.g., your literature review, and share it, others will naturally ask, ‘Where did this information come from?’ or ‘Where did you hear this’? This is why we cite sources: to show the origin of our knowledge and allow others to verify or follow up on it.”</a:t>
            </a:r>
          </a:p>
          <a:p>
            <a:pPr lvl="0" indent="0" marL="0">
              <a:buNone/>
            </a:pPr>
          </a:p>
          <a:p>
            <a:pPr lvl="0" indent="0" marL="0">
              <a:buNone/>
            </a:pPr>
            <a:r>
              <a:rPr b="1"/>
              <a:t>Instructor Notes</a:t>
            </a:r>
            <a:r>
              <a:rPr/>
              <a:t>: Use this humorous, relatable example to introduce the concept of citations and references (feel free to edit the example). Highlight the difference between casual claims and scientific claims to make the importance of referencing concrete. Encourage learners to think of examples from their own fields where citing sources would be necessary.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Citations are the short pointers you include directly in the text to indicate where a piece of information comes from, typically with an author name and year. Citations help you navigate to the reference list, where you can discover the complete details of the mentioned paper.</a:t>
            </a:r>
          </a:p>
          <a:p>
            <a:pPr lvl="0" indent="0" marL="0">
              <a:buNone/>
            </a:pPr>
          </a:p>
          <a:p>
            <a:pPr lvl="0" indent="0" marL="0">
              <a:buNone/>
            </a:pPr>
            <a:r>
              <a:rPr b="1"/>
              <a:t>Instructor Notes</a:t>
            </a:r>
            <a:r>
              <a:rPr/>
              <a:t>: Emphasize the functional distinction between citations and references rather than formatting details. Discuss the workflow of navigating citations while reading a research paper. Use the image as a visual anchor to reinforce where citations appear in a paper. Avoid going into citation styles here; the goal is conceptual clarity, not technical mastery.</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References appear at the end of a paper and provide the full details needed to locate the source. This will allow you to access the ‘source of the information’ and see for yourself what the paper entails. Together, citations and references make it possible for others to trace your claims back to the original research.</a:t>
            </a:r>
          </a:p>
          <a:p>
            <a:pPr lvl="0" indent="0" marL="0">
              <a:buNone/>
            </a:pPr>
          </a:p>
          <a:p>
            <a:pPr lvl="0" indent="0" marL="0">
              <a:buNone/>
            </a:pPr>
            <a:r>
              <a:rPr/>
              <a:t>This is a fictional citation that does not truly exist. This slide is merely about demonstrating the difference between citations and references.</a:t>
            </a:r>
          </a:p>
          <a:p>
            <a:pPr lvl="0" indent="0" marL="0">
              <a:buNone/>
            </a:pPr>
          </a:p>
          <a:p>
            <a:pPr lvl="0" indent="0" marL="0">
              <a:buNone/>
            </a:pPr>
            <a:r>
              <a:rPr b="1"/>
              <a:t>Instructor Notes</a:t>
            </a:r>
            <a:r>
              <a:rPr/>
              <a:t>: Emphasize the functional distinction between citations and references rather than formatting details. Discuss the workflow of navigating references while reading a research paper. Use the image as a visual anchor to reinforce where references appear in a paper.</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explains why citations and references are needed in research.  They show which ideas come from other researchers, so credit goes where it’s due and we avoid presenting others’ work as our own.</a:t>
            </a:r>
          </a:p>
          <a:p>
            <a:pPr lvl="0" indent="0" marL="0">
              <a:buNone/>
            </a:pPr>
          </a:p>
          <a:p>
            <a:pPr lvl="0" indent="0" marL="0">
              <a:buNone/>
            </a:pPr>
            <a:r>
              <a:rPr/>
              <a:t>They also help back up what we say by pointing readers to earlier studies that support our claims.</a:t>
            </a:r>
            <a:br/>
            <a:r>
              <a:rPr/>
              <a:t>Citations make it possible for others to double-check our work, spot mistakes, or build on it in future research.</a:t>
            </a:r>
            <a:br/>
            <a:r>
              <a:rPr/>
              <a:t>They also connect ideas across papers, creating a larger network of knowledge and helping us track how research influences later work.</a:t>
            </a:r>
          </a:p>
          <a:p>
            <a:pPr lvl="0" indent="0" marL="0">
              <a:buNone/>
            </a:pPr>
          </a:p>
          <a:p>
            <a:pPr lvl="0" indent="0" marL="0">
              <a:buNone/>
            </a:pPr>
            <a:r>
              <a:rPr/>
              <a:t>And just to practice what we’re preaching: these points are taken from a paper by Aksnes and colleagues from 2019.</a:t>
            </a:r>
            <a:br/>
            <a:r>
              <a:rPr/>
              <a:t>So now you know exactly where this knowledge comes from, and if you don’t believe me, you can always check from the reference at the end.</a:t>
            </a:r>
          </a:p>
          <a:p>
            <a:pPr lvl="0" indent="0" marL="0">
              <a:buNone/>
            </a:pPr>
          </a:p>
          <a:p>
            <a:pPr lvl="0" indent="0" marL="0">
              <a:buNone/>
            </a:pPr>
            <a:r>
              <a:rPr b="1"/>
              <a:t>Instructor Notes</a:t>
            </a:r>
            <a:r>
              <a:rPr/>
              <a:t>: Use this slide to reinforce both the practical and ethical reasons for citing sources. The humorous self-reference helps model good scholarly behaviour in action. Emphasize that citations are not about bureaucracy, but about trust, accountability, and connection within the scientific community.</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shows the basic idea of how to cite and reference a scientific paper.</a:t>
            </a:r>
            <a:br/>
            <a:r>
              <a:rPr/>
              <a:t>In the text, citations are usually short and include the author’s name and the year of publication.</a:t>
            </a:r>
            <a:br/>
            <a:r>
              <a:rPr/>
              <a:t>At the end of a paper, the reference list contains the full details, such as the authors, year, title, and where the work was published.These references are typically listed in alphabetical order.</a:t>
            </a:r>
          </a:p>
          <a:p>
            <a:pPr lvl="0" indent="0" marL="0">
              <a:buNone/>
            </a:pPr>
          </a:p>
          <a:p>
            <a:pPr lvl="0" indent="0" marL="0">
              <a:buNone/>
            </a:pPr>
            <a:r>
              <a:rPr b="1"/>
              <a:t>Instructor Notes</a:t>
            </a:r>
            <a:r>
              <a:rPr/>
              <a:t>: Keep the focus on structure rather than memorizing formatting rules. Reinforce that citation styles vary across disciplines and that learners should always check departmental or journal guidelines. Use this slide as a bridge to the next one, where citation formats are introduced.</a:t>
            </a:r>
          </a:p>
          <a:p>
            <a:pPr lvl="0" indent="0" marL="0">
              <a:buNone/>
            </a:pPr>
          </a:p>
          <a:p>
            <a:pPr lvl="0" indent="0" marL="0">
              <a:buNone/>
            </a:pPr>
            <a:r>
              <a:rPr b="1"/>
              <a:t>Accessibility Tips</a:t>
            </a:r>
            <a:r>
              <a:rPr/>
              <a:t>: Read the example citation aloud and slow down when listing the reference components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Do note: the exact formatting depends on the citation style, and we’ll briefly look at some common formats on the next slide. In the current example, the formatting used is APA.</a:t>
            </a:r>
          </a:p>
          <a:p>
            <a:pPr lvl="0" indent="0" marL="0">
              <a:buNone/>
            </a:pPr>
          </a:p>
          <a:p>
            <a:pPr lvl="0" indent="0" marL="0">
              <a:buNone/>
            </a:pPr>
            <a:r>
              <a:rPr/>
              <a:t>It is also useful to find out which citation style your department or field expects you to use.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shows some of the most common citation formats used across different disciplines.</a:t>
            </a:r>
            <a:br/>
            <a:r>
              <a:rPr/>
              <a:t>You are not expected to learn or memorize any of these.</a:t>
            </a:r>
            <a:br/>
            <a:r>
              <a:rPr/>
              <a:t>Think of this slide as a reference point, showing that citation styles differ depending on the field.</a:t>
            </a:r>
          </a:p>
          <a:p>
            <a:pPr lvl="0" indent="0" marL="0">
              <a:buNone/>
            </a:pPr>
          </a:p>
          <a:p>
            <a:pPr lvl="0" indent="0" marL="0">
              <a:buNone/>
            </a:pPr>
            <a:r>
              <a:rPr/>
              <a:t>As an example:</a:t>
            </a:r>
          </a:p>
          <a:p>
            <a:pPr lvl="0" indent="0" marL="0">
              <a:buNone/>
            </a:pPr>
          </a:p>
          <a:p>
            <a:pPr lvl="0"/>
            <a:r>
              <a:rPr/>
              <a:t>APA stands for the American Psychological Association. It is widely used in the social sciences, such as psychology, education, and sociology. APA uses an author–date in-text citation format (e.g., Smith &amp; Lee, 2023), which emphasizes the timeliness of research. The reference list follows a structured format with clear rules for authors, publication year, article title, journal title, volume, issue, pages, and a digital object identifier (DOI).</a:t>
            </a:r>
          </a:p>
          <a:p>
            <a:pPr lvl="0" indent="0" marL="0">
              <a:buNone/>
            </a:pPr>
          </a:p>
          <a:p>
            <a:pPr lvl="0"/>
            <a:r>
              <a:rPr/>
              <a:t>MLA stands for the Modern Language Association. It is commonly used in the humanities, particularly in literature, languages, and cultural studies. MLA typically uses an author–page number format for in-text citations (e.g., Smith and Lee 123), focusing more on the location within the source than on the publication year. The reference list, called “Works Cited,” has its own specific formatting rules.</a:t>
            </a:r>
          </a:p>
          <a:p>
            <a:pPr lvl="0" indent="0" marL="0">
              <a:buNone/>
            </a:pPr>
          </a:p>
          <a:p>
            <a:pPr lvl="0"/>
            <a:r>
              <a:rPr/>
              <a:t>Chicago refers to the Chicago Manual of Style, published by the University of Chicago Press. The version shown here is the Notes and Bibliography system, which is widely used in history and some other humanities disciplines. Instead of parenthetical citations, it often relies on footnotes or endnotes, with a corresponding bibliography at the end of the document. This style allows for more detailed source information in the notes.</a:t>
            </a:r>
          </a:p>
          <a:p>
            <a:pPr lvl="0" indent="0" marL="0">
              <a:buNone/>
            </a:pPr>
          </a:p>
          <a:p>
            <a:pPr lvl="0"/>
            <a:r>
              <a:rPr/>
              <a:t>Example comparison APA and Chicago: APA (American Psychological Association) uses an author–date citation system in the text and is primarily used in the social sciences, where the publication year is especially important. Chicago (Chicago Manual of Style), particularly the Notes and Bibliography system, commonly uses footnotes or endnotes and is widely used in the humanities, allowing for more detailed source information and commentary.</a:t>
            </a:r>
          </a:p>
          <a:p>
            <a:pPr lvl="0" indent="0" marL="0">
              <a:buNone/>
            </a:pPr>
          </a:p>
          <a:p>
            <a:pPr lvl="0" indent="0" marL="0">
              <a:buNone/>
            </a:pPr>
            <a:r>
              <a:rPr b="1"/>
              <a:t>Instructor Notes</a:t>
            </a:r>
            <a:r>
              <a:rPr/>
              <a:t>: Keep this slide brief and exploratory. Pick out the citation style that is most relevant to your audience and go into more detail, then compare with one other style. Avoid explaining each format in detail; the goal is awareness, not mastery. Encourage learners to visually compare formats and notice recurring elements such as authors, year, title, and source.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more example citation styles.</a:t>
            </a:r>
          </a:p>
          <a:p>
            <a:pPr lvl="0" indent="0" marL="0">
              <a:buNone/>
            </a:pPr>
          </a:p>
          <a:p>
            <a:pPr lvl="0"/>
            <a:r>
              <a:rPr/>
              <a:t>Chicago (Author–Date) refers to the Chicago Manual of Style, published by the University of Chicago Press, in its Author–Date variant. This version is commonly used in the natural and social sciences and employs parenthetical in-text citations that include the author’s name, publication year, and page number (e.g., Smith and Lee 2023, 123), with a corresponding reference list arranged alphabetically.</a:t>
            </a:r>
          </a:p>
          <a:p>
            <a:pPr lvl="0" indent="0" marL="0">
              <a:buNone/>
            </a:pPr>
          </a:p>
          <a:p>
            <a:pPr lvl="0"/>
            <a:r>
              <a:rPr/>
              <a:t>IEEE stands for the Institute of Electrical and Electronics Engineers. It is widely used in STEM fields, particularly in engineering and computer science, and relies on numbered in-text citations in square brackets (e.g., [13]), which correspond to a numerically ordered reference list formatted in a concise and technical style.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short exercise is simply to help you identify which citation style is commonly used in your own discipline.</a:t>
            </a:r>
          </a:p>
          <a:p>
            <a:pPr lvl="0" indent="0" marL="0">
              <a:buNone/>
            </a:pPr>
          </a:p>
          <a:p>
            <a:pPr lvl="0" indent="0" marL="0">
              <a:buNone/>
            </a:pPr>
            <a:r>
              <a:rPr b="1"/>
              <a:t>Instructor Notes</a:t>
            </a:r>
            <a:r>
              <a:rPr/>
              <a:t>: Use the exercise to prompt independent discovery and reinforce the idea that citation conventions are field-specific. Your audience has likely come across papers and can therefore compare with what they have already seen.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working on an assignment where you’ve opened dozens, maybe even hundreds, of tabs in your browser.</a:t>
            </a:r>
            <a:br/>
            <a:r>
              <a:rPr/>
              <a:t>You are scrolling back and forth, trying to remember where a quote came from or which paper supported which idea, and things start to feel messy and overwhelming.</a:t>
            </a:r>
          </a:p>
          <a:p>
            <a:pPr lvl="0" indent="0" marL="0">
              <a:buNone/>
            </a:pPr>
          </a:p>
          <a:p>
            <a:pPr lvl="0" indent="0" marL="0">
              <a:buNone/>
            </a:pPr>
            <a:r>
              <a:rPr/>
              <a:t>This is where citation tools come in. Citation tools, also called reference managers, are apps or websites like Zotero, Mendeley, or Citavi that help you collect, organise, and format your sources in one place.</a:t>
            </a:r>
          </a:p>
          <a:p>
            <a:pPr lvl="0" indent="0" marL="0">
              <a:buNone/>
            </a:pPr>
          </a:p>
          <a:p>
            <a:pPr lvl="0" indent="0" marL="0">
              <a:buNone/>
            </a:pPr>
            <a:r>
              <a:rPr b="1"/>
              <a:t>Zotero</a:t>
            </a:r>
            <a:r>
              <a:rPr/>
              <a:t> is a free, open-source reference manager that helps you collect, organize, annotate, cite, and share research materials. It integrates with browsers to easily save references, supports thousands of citation styles, and works with Word, LibreOffice, Google Docs, and other tools. Its flexible syncing options make it popular among students and researchers who want customization and control over their libraries. It is free and unlimited in local storage space, but paid storage plans for online storage and collaboration exist. This is the tool we will look into today.</a:t>
            </a:r>
          </a:p>
          <a:p>
            <a:pPr lvl="0" indent="0" marL="0">
              <a:buNone/>
            </a:pPr>
          </a:p>
          <a:p>
            <a:pPr lvl="0" indent="0" marL="0">
              <a:buNone/>
            </a:pPr>
            <a:r>
              <a:rPr b="1"/>
              <a:t>Mendeley</a:t>
            </a:r>
            <a:r>
              <a:rPr/>
              <a:t> is a citation manager owned by Elsevier that combines reference management with PDF organization and annotation. It offers a more polished interface and built-in PDF viewing, and its cloud syncing and group sharing make it convenient for collaboration and managing research across devices. However, it is more tied to a proprietary ecosystem and has limits on free storage. There is a free tool, which only comes with basic feautres and limited cloud storage, so you have to choose paid subscription plans for more storage and advanced features. </a:t>
            </a:r>
            <a:r>
              <a:rPr b="1"/>
              <a:t>Citavi</a:t>
            </a:r>
            <a:r>
              <a:rPr/>
              <a:t> is a commercial reference management and knowledge-organization tool especially popular in German-speaking countries. In addition to standard citation management, it includes project planning, task organization, and advanced knowledge structuring features, and integrates closely with Word and research databases. It tends to be more feature-rich for comprehensive research workflows, but it typically requires a license and is focused on Windows (with web support). Citavi is not free, full functionality requires buying a licence.</a:t>
            </a:r>
          </a:p>
          <a:p>
            <a:pPr lvl="0" indent="0" marL="0">
              <a:buNone/>
            </a:pPr>
          </a:p>
          <a:p>
            <a:pPr lvl="0" indent="0" marL="0">
              <a:buNone/>
            </a:pPr>
            <a:r>
              <a:rPr b="1"/>
              <a:t>Instructor Notes</a:t>
            </a:r>
            <a:r>
              <a:rPr/>
              <a:t>: Reinforce the practical benefits of citation tools using everyday student experiences. If prompted, you can explain each tool in more detail, briefly open the websites of each tool and navigate how each tool is unique in its features.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can these tools do? They can save bibliographic information with one click, generate in-text citations, and automatically build your reference list.</a:t>
            </a:r>
          </a:p>
          <a:p>
            <a:pPr lvl="0" indent="0" marL="0">
              <a:buNone/>
            </a:pPr>
          </a:p>
          <a:p>
            <a:pPr lvl="0" indent="0" marL="0">
              <a:buNone/>
            </a:pPr>
            <a:r>
              <a:rPr/>
              <a:t>They improve accuracy and consistency by remembering all the important details, like the author, year, and title, and formatting every citation the same way, so you’re less likely to make mistakes.</a:t>
            </a:r>
          </a:p>
          <a:p>
            <a:pPr lvl="0" indent="0" marL="0">
              <a:buNone/>
            </a:pPr>
          </a:p>
          <a:p>
            <a:pPr lvl="0" indent="0" marL="0">
              <a:buNone/>
            </a:pPr>
            <a:r>
              <a:rPr/>
              <a:t>They also save a lot of time. Instead of typing citations and reference lists manually, the tool can generate them for you automatically.</a:t>
            </a:r>
          </a:p>
          <a:p>
            <a:pPr lvl="0" indent="0" marL="0">
              <a:buNone/>
            </a:pPr>
          </a:p>
          <a:p>
            <a:pPr lvl="0" indent="0" marL="0">
              <a:buNone/>
            </a:pPr>
            <a:r>
              <a:rPr/>
              <a:t>Another big advantage is that they can handle multiple citation styles. If a course or journal asks for a different format, you can switch styles with just a few clicks, rather than rewriting everything from scratch.</a:t>
            </a:r>
          </a:p>
          <a:p>
            <a:pPr lvl="0" indent="0" marL="0">
              <a:buNone/>
            </a:pPr>
          </a:p>
          <a:p>
            <a:pPr lvl="0" indent="0" marL="0">
              <a:buNone/>
            </a:pPr>
            <a:r>
              <a:rPr/>
              <a:t>Note that consistency is directly tied to the input you are providing and efficiency to the way you are interacting with the tool.</a:t>
            </a:r>
          </a:p>
          <a:p>
            <a:pPr lvl="0" indent="0" marL="0">
              <a:buNone/>
            </a:pPr>
          </a:p>
          <a:p>
            <a:pPr lvl="0" indent="0" marL="0">
              <a:buNone/>
            </a:pPr>
            <a:r>
              <a:rPr/>
              <a:t>Finally, they can </a:t>
            </a:r>
            <a:r>
              <a:rPr b="1"/>
              <a:t>store attachments</a:t>
            </a:r>
            <a:r>
              <a:rPr/>
              <a:t>, e.g., pdfs, notes, snapshots, urls together with your citation entry locally and remotely.</a:t>
            </a:r>
          </a:p>
          <a:p>
            <a:pPr lvl="0" indent="0" marL="0">
              <a:buNone/>
            </a:pPr>
          </a:p>
          <a:p>
            <a:pPr lvl="0" indent="0" marL="0">
              <a:buNone/>
            </a:pPr>
            <a:r>
              <a:rPr b="1"/>
              <a:t>Instructor Notes</a:t>
            </a:r>
            <a:r>
              <a:rPr/>
              <a:t>: Emphasize that these tools reduce errors, save time, and adapt easily to different citation requirements. Avoid framing them as shortcuts; instead, present them as good scholarly practice that supports accuracy and efficiency.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at this point?</a:t>
            </a:r>
          </a:p>
          <a:p>
            <a:pPr lvl="0" indent="0" marL="0">
              <a:buNone/>
            </a:pPr>
          </a:p>
          <a:p>
            <a:pPr lvl="0" indent="0" marL="0">
              <a:buNone/>
            </a:pPr>
            <a:r>
              <a:rPr b="1"/>
              <a:t>Instructor Notes</a:t>
            </a:r>
            <a:r>
              <a:rPr/>
              <a:t>: Give some time for your learners to think about questions. Go back to relevant slides if needed.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gives a very brief overview of Zotero.</a:t>
            </a:r>
            <a:br/>
            <a:r>
              <a:rPr/>
              <a:t>Zotero is a citation tool that helps you collect, organise, and cite your sources in one place.</a:t>
            </a:r>
            <a:br/>
            <a:r>
              <a:rPr/>
              <a:t>You can save references together with different attachments with a single click from databases or websites, organize them into collections or with tags, and search through them easily.</a:t>
            </a:r>
            <a:br/>
            <a:r>
              <a:rPr/>
              <a:t>Zotero also connects directly to tools like Word, Quarto, and Google Docs, where you insert citations and build your reference list automatically.</a:t>
            </a:r>
          </a:p>
          <a:p>
            <a:pPr lvl="0" indent="0" marL="0">
              <a:buNone/>
            </a:pPr>
          </a:p>
          <a:p>
            <a:pPr lvl="0" indent="0" marL="0">
              <a:buNone/>
            </a:pPr>
            <a:r>
              <a:rPr b="1"/>
              <a:t>Instructor Notes</a:t>
            </a:r>
            <a:r>
              <a:rPr/>
              <a:t>: Keep this introduction surface-level and avoid demonstrating features in detail. The purpose is orientation, not instruction.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image shows the Zotero interface, with your saved items in the centre, collections on the left sidebar, and detailed information for each item on the right sidebar.</a:t>
            </a:r>
          </a:p>
          <a:p>
            <a:pPr lvl="0" indent="0" marL="0">
              <a:buNone/>
            </a:pPr>
          </a:p>
          <a:p>
            <a:pPr lvl="0" indent="0" marL="0">
              <a:buNone/>
            </a:pPr>
            <a:r>
              <a:rPr/>
              <a:t>We’ll only briefly look into this, because you’ll move straight into a hands-on tutorial where you’ll learn how to use Zotero in practice.</a:t>
            </a:r>
          </a:p>
          <a:p>
            <a:pPr lvl="0" indent="0" marL="0">
              <a:buNone/>
            </a:pPr>
          </a:p>
          <a:p>
            <a:pPr lvl="0" indent="0" marL="0">
              <a:buNone/>
            </a:pPr>
            <a:r>
              <a:rPr b="1"/>
              <a:t>Instructor Notes</a:t>
            </a:r>
            <a:r>
              <a:rPr/>
              <a:t>: Use the interface image to help learners recognize Zotero when they open it themselves. Let them take a minute to see the interface image to build familiarity. Clearly signal the transition to the practical tutorial, where they will actively work with the tool.</a:t>
            </a:r>
          </a:p>
          <a:p>
            <a:pPr lvl="0" indent="0" marL="0">
              <a:buNone/>
            </a:pPr>
          </a:p>
          <a:p>
            <a:pPr lvl="0" indent="0" marL="0">
              <a:buNone/>
            </a:pPr>
            <a:r>
              <a:rPr b="1"/>
              <a:t>Accessibility Tips</a:t>
            </a:r>
            <a:r>
              <a:rPr/>
              <a:t>: Verbally describe the layout shown in the image for learners who may have difficulty seeing it clearly. Reassure learners that they will not need to remember details from this slide, as the upcoming tutorial will walk them through the steps at a comfortable pace.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 focusing introducing Zotero, how to integrate with other platform, and practical exercises for you. Take your time as you go through them, and work at a pace that feels comfortable. There’s no expectation to finish everything right now, and you’re welcome to continue working on them at home. Use this time to explore, experiment, and revisit earlier ideas as they come up in the tutorials.</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Some of your learners may only now get to the point of installing Zotero. Make sure to provide support for the installation process when needed. Do walk around the room to check up on the progress of the learners.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 revert to our slides to wrap up the presentation. As a homework assignment, you are expected to complete all remaining sections of the Introduction to Zotero tutorial, including every exercise. The goal is to ensure they move from passive understanding to hands-on application of Zotero’s core functions.</a:t>
            </a:r>
          </a:p>
          <a:p>
            <a:pPr lvl="0" indent="0" marL="0">
              <a:buNone/>
            </a:pPr>
          </a:p>
          <a:p>
            <a:pPr lvl="0" indent="0" marL="0">
              <a:buNone/>
            </a:pPr>
            <a:r>
              <a:rPr/>
              <a:t>The self-reflective questions are designed to encourage metacognitive awareness. You should not simply state whether something was “easy” or “difficult,” but briefly consider why.</a:t>
            </a:r>
          </a:p>
          <a:p>
            <a:pPr lvl="0" indent="0" marL="0">
              <a:buNone/>
            </a:pPr>
          </a:p>
          <a:p>
            <a:pPr lvl="0" indent="0" marL="0">
              <a:buNone/>
            </a:pPr>
            <a:r>
              <a:rPr/>
              <a:t>The first question checks conceptual clarity about citations and reference management.</a:t>
            </a:r>
          </a:p>
          <a:p>
            <a:pPr lvl="0" indent="0" marL="0">
              <a:buNone/>
            </a:pPr>
          </a:p>
          <a:p>
            <a:pPr lvl="0" indent="0" marL="0">
              <a:buNone/>
            </a:pPr>
            <a:r>
              <a:rPr/>
              <a:t>The second encourages them to assess their practical competence and identify areas needing further practice. The third focuses specifically on working with different Citation Style Language (CSL) formats, helping them reflect on flexibility and adaptability in citation formatting.</a:t>
            </a:r>
          </a:p>
          <a:p>
            <a:pPr lvl="0" indent="0" marL="0">
              <a:buNone/>
            </a:pPr>
          </a:p>
          <a:p>
            <a:pPr lvl="0" indent="0" marL="0">
              <a:buNone/>
            </a:pPr>
            <a:r>
              <a:rPr b="1"/>
              <a:t>Instructor Notes</a:t>
            </a:r>
            <a:r>
              <a:rPr/>
              <a:t>: Gently nudge the learners back to the tutorial. Emphasize that completion of all tutorial sections and exercises is required. Learners should not skip the “Advanced” or “Zotero Groups” sections. Encourage honest self-assessment in the reflective questions; the goal is learning awareness, not perfection. Remind learners that facing difficulty is common and part of the learning process.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Now is a time for a short in-class activity and an opportunity to discuss this new skill in an open discussion.</a:t>
            </a:r>
          </a:p>
          <a:p>
            <a:pPr lvl="0" indent="0" marL="0">
              <a:buNone/>
            </a:pPr>
          </a:p>
          <a:p>
            <a:pPr lvl="0" indent="0" marL="0">
              <a:buNone/>
            </a:pPr>
            <a:r>
              <a:rPr/>
              <a:t>For this activity, we’ll take about five to seven minutes in total.</a:t>
            </a:r>
          </a:p>
          <a:p>
            <a:pPr lvl="0" indent="0" marL="0">
              <a:buNone/>
            </a:pPr>
          </a:p>
          <a:p>
            <a:pPr lvl="0" indent="0" marL="0">
              <a:buNone/>
            </a:pPr>
            <a:r>
              <a:rPr/>
              <a:t>First, take a minute individually to think about these three questions:</a:t>
            </a:r>
          </a:p>
          <a:p>
            <a:pPr lvl="0" indent="0" marL="0">
              <a:buNone/>
            </a:pPr>
          </a:p>
          <a:p>
            <a:pPr lvl="0"/>
            <a:r>
              <a:rPr/>
              <a:t>Can you identify some </a:t>
            </a:r>
            <a:r>
              <a:rPr b="1"/>
              <a:t>practical benefits</a:t>
            </a:r>
            <a:r>
              <a:rPr/>
              <a:t> of using Zotero?</a:t>
            </a:r>
          </a:p>
          <a:p>
            <a:pPr lvl="0" indent="0" marL="0">
              <a:buNone/>
            </a:pPr>
          </a:p>
          <a:p>
            <a:pPr lvl="0"/>
            <a:r>
              <a:rPr/>
              <a:t>What </a:t>
            </a:r>
            <a:r>
              <a:rPr b="1"/>
              <a:t>obstacles</a:t>
            </a:r>
            <a:r>
              <a:rPr/>
              <a:t> do you anticipate in using it consistently?</a:t>
            </a:r>
          </a:p>
          <a:p>
            <a:pPr lvl="0" indent="0" marL="0">
              <a:buNone/>
            </a:pPr>
          </a:p>
          <a:p>
            <a:pPr lvl="0"/>
            <a:r>
              <a:rPr/>
              <a:t>How can Zotero support you in your </a:t>
            </a:r>
            <a:r>
              <a:rPr b="1"/>
              <a:t>upcoming projects</a:t>
            </a:r>
            <a:r>
              <a:rPr/>
              <a:t>?</a:t>
            </a:r>
          </a:p>
          <a:p>
            <a:pPr lvl="0" indent="0" marL="0">
              <a:buNone/>
            </a:pPr>
          </a:p>
          <a:p>
            <a:pPr lvl="0" indent="0" marL="0">
              <a:buNone/>
            </a:pPr>
            <a:r>
              <a:rPr/>
              <a:t>After that, we’ll open it up for discussion for about three to five minutes. I’m interested in concrete examples, for instance, an upcoming essay where you could realistically start using it. There are no right or wrong answers here. The goal is to think honestly about how this tool fits or does not fit into your current workflow.</a:t>
            </a:r>
          </a:p>
          <a:p>
            <a:pPr lvl="0" indent="0" marL="0">
              <a:buNone/>
            </a:pPr>
          </a:p>
          <a:p>
            <a:pPr lvl="0" indent="0" marL="0">
              <a:buNone/>
            </a:pPr>
            <a:r>
              <a:rPr b="1"/>
              <a:t>Instructor Notes</a:t>
            </a:r>
            <a:r>
              <a:rPr/>
              <a:t>: Keep the reflection phase quiet before moving into discussion. If participation is slow, prompt with specific contexts (e.g., literature reviews, group projects, thesis preparation).</a:t>
            </a:r>
          </a:p>
          <a:p>
            <a:pPr lvl="0" indent="0" marL="0">
              <a:buNone/>
            </a:pPr>
          </a:p>
          <a:p>
            <a:pPr lvl="0" indent="0" marL="0">
              <a:buNone/>
            </a:pPr>
            <a:r>
              <a:rPr b="1"/>
              <a:t>Accessibility Tips:</a:t>
            </a:r>
            <a:r>
              <a:rPr/>
              <a:t> Give learners a short quiet reflection moment before opening discussion. Paraphrase learner contributions clearly and structure them into “benefits” and “barriers” to support comprehension.</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with some take-home messages, citations and references are essential in academic writing because they allow readers to trace the sources of your information and give proper credit to the original authors. Proper citation is not only an ethical requirement but also strengthens the credibility and reliability of your work, helping others to verify or build upon your research.</a:t>
            </a:r>
          </a:p>
          <a:p>
            <a:pPr lvl="0" indent="0" marL="0">
              <a:buNone/>
            </a:pPr>
          </a:p>
          <a:p>
            <a:pPr lvl="0" indent="0" marL="0">
              <a:buNone/>
            </a:pPr>
            <a:r>
              <a:rPr/>
              <a:t>Citation tools make this process much easier by collecting, organizing, and formatting your references automatically. They also provide convenient storage for PDFs, notes, and other research materials, allowing you to manage your sources efficiently and integrate them seamlessly into your writing workflow, for example, as we practiced today, RStudio and Quarto and MS Word.</a:t>
            </a:r>
          </a:p>
          <a:p>
            <a:pPr lvl="0" indent="0" marL="0">
              <a:buNone/>
            </a:pPr>
          </a:p>
          <a:p>
            <a:pPr lvl="0" indent="0" marL="0">
              <a:buNone/>
            </a:pPr>
            <a:r>
              <a:rPr b="1"/>
              <a:t>Instructor Notes</a:t>
            </a:r>
            <a:r>
              <a:rPr/>
              <a:t>:</a:t>
            </a:r>
            <a:br/>
            <a:r>
              <a:rPr/>
              <a:t>Deliver this slide as a concise closing summary. Reinforce the connection between integrity, transparency, and practical efficiency. Avoid introducing new information; this slide should consolidate key ideas from the session.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goals at this stage. Invite questions related to understanding the purpose of citations, the basics of creating citations and bibliographies, or the role of Zotero.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citing literature and using Zotero after completing the submodule. Please answer honestly based on how confident you feel now. </a:t>
            </a:r>
            <a:r>
              <a:rPr b="1"/>
              <a:t>Instructor Notes</a:t>
            </a:r>
            <a:r>
              <a:rPr/>
              <a:t>: The purpose is to compare pre- and post-submodule responses to evaluate learning progress and the effectiveness of the tutorial. Encourage the learnrs to share in class. Use this space to answer doubts, and provide learning or practice tips if the learners still feel under-confident in any areas.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 - </a:t>
            </a:r>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short activity. Pair up and pick a paper from a database like Google Scholar. Take a look at how the citations are formatted in the text and how the reference list is structured. Notice any patterns, differences, or special features. Later, share your observations with the class.</a:t>
            </a:r>
          </a:p>
          <a:p>
            <a:pPr lvl="0" indent="0" marL="0">
              <a:buNone/>
            </a:pPr>
          </a:p>
          <a:p>
            <a:pPr lvl="0" indent="0" marL="0">
              <a:buNone/>
            </a:pPr>
            <a:r>
              <a:rPr b="1"/>
              <a:t>Instructor Notes</a:t>
            </a:r>
            <a:r>
              <a:rPr/>
              <a:t>: Use this add-on selectively, only if it is needed and time permits. It can be incorporate right after the slide ‘What are citations and references?’. Encourage learners to notice key features of citations and references. This reinforces the concepts of citations and references in a real-world context.</a:t>
            </a:r>
          </a:p>
          <a:p>
            <a:pPr lvl="0" indent="0" marL="0">
              <a:buNone/>
            </a:pPr>
          </a:p>
          <a:p>
            <a:pPr lvl="0" indent="0" marL="0">
              <a:buNone/>
            </a:pPr>
            <a:r>
              <a:rPr b="1"/>
              <a:t>Accessibility Tip:</a:t>
            </a:r>
            <a:r>
              <a:rPr/>
              <a:t> Ensure that all learners can access the database and full text (provide links or PDFs if needed).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13" name="Date Placeholder 12">
            <a:extLst>
              <a:ext uri="{FF2B5EF4-FFF2-40B4-BE49-F238E27FC236}">
                <a16:creationId xmlns:a16="http://schemas.microsoft.com/office/drawing/2014/main" id="{A98AF039-CAB9-D195-284D-DDC75DFBA39C}"/>
              </a:ext>
            </a:extLst>
          </p:cNvPr>
          <p:cNvSpPr>
            <a:spLocks noGrp="1"/>
          </p:cNvSpPr>
          <p:nvPr>
            <p:ph type="dt" sz="half" idx="10"/>
          </p:nvPr>
        </p:nvSpPr>
        <p:spPr/>
        <p:txBody>
          <a:bodyPr/>
          <a:lstStyle/>
          <a:p>
            <a:pPr algn="ctr"/>
            <a:r>
              <a:rPr lang="en-US"/>
              <a:t>DATE</a:t>
            </a:r>
            <a:endParaRPr lang="en-US" dirty="0"/>
          </a:p>
        </p:txBody>
      </p:sp>
      <p:sp>
        <p:nvSpPr>
          <p:cNvPr id="14" name="Footer Placeholder 13">
            <a:extLst>
              <a:ext uri="{FF2B5EF4-FFF2-40B4-BE49-F238E27FC236}">
                <a16:creationId xmlns:a16="http://schemas.microsoft.com/office/drawing/2014/main" id="{92325642-A61C-3078-0A08-00C186300EA9}"/>
              </a:ext>
            </a:extLst>
          </p:cNvPr>
          <p:cNvSpPr>
            <a:spLocks noGrp="1"/>
          </p:cNvSpPr>
          <p:nvPr>
            <p:ph type="ftr" sz="quarter" idx="11"/>
          </p:nvPr>
        </p:nvSpPr>
        <p:spPr/>
        <p:txBody>
          <a:bodyPr/>
          <a:lstStyle/>
          <a:p>
            <a:r>
              <a:rPr lang="en-US"/>
              <a:t>© LMU Open Science Center</a:t>
            </a:r>
            <a:endParaRPr lang="en-US" dirty="0"/>
          </a:p>
        </p:txBody>
      </p:sp>
      <p:sp>
        <p:nvSpPr>
          <p:cNvPr id="15" name="Slide Number Placeholder 14">
            <a:extLst>
              <a:ext uri="{FF2B5EF4-FFF2-40B4-BE49-F238E27FC236}">
                <a16:creationId xmlns:a16="http://schemas.microsoft.com/office/drawing/2014/main" id="{68E9BE78-1F37-C669-71F3-F3AC2F8BB49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444357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95D47B-82BE-FA8D-B3D0-43C1EF89F98F}"/>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1" name="Date Placeholder 10">
            <a:extLst>
              <a:ext uri="{FF2B5EF4-FFF2-40B4-BE49-F238E27FC236}">
                <a16:creationId xmlns:a16="http://schemas.microsoft.com/office/drawing/2014/main" id="{CE3B72D0-0A08-8401-1102-DC8B6D528889}"/>
              </a:ext>
            </a:extLst>
          </p:cNvPr>
          <p:cNvSpPr>
            <a:spLocks noGrp="1"/>
          </p:cNvSpPr>
          <p:nvPr>
            <p:ph type="dt" sz="half" idx="10"/>
          </p:nvPr>
        </p:nvSpPr>
        <p:spPr/>
        <p:txBody>
          <a:bodyPr/>
          <a:lstStyle/>
          <a:p>
            <a:pPr algn="ctr"/>
            <a:r>
              <a:rPr lang="en-US"/>
              <a:t>DATE</a:t>
            </a:r>
            <a:endParaRPr lang="en-US" dirty="0"/>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type="ftr" sz="quarter" idx="11"/>
          </p:nvPr>
        </p:nvSpPr>
        <p:spPr/>
        <p:txBody>
          <a:bodyPr/>
          <a:lstStyle/>
          <a:p>
            <a:r>
              <a:rPr lang="en-US"/>
              <a:t>© LMU Open Science Center</a:t>
            </a:r>
            <a:endParaRPr lang="en-US" dirty="0"/>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166963"/>
            <a:ext cx="10363200" cy="1362075"/>
          </a:xfrm>
        </p:spPr>
        <p:txBody>
          <a:bodyPr anchor="t"/>
          <a:lstStyle>
            <a:lvl1pPr algn="l">
              <a:defRPr sz="3733" b="1" cap="none"/>
            </a:lvl1pPr>
          </a:lstStyle>
          <a:p>
            <a:r>
              <a:rPr lang="en-US" dirty="0"/>
              <a:t>Click to edit master title style</a:t>
            </a:r>
          </a:p>
        </p:txBody>
      </p:sp>
      <p:sp>
        <p:nvSpPr>
          <p:cNvPr id="3" name="Text Placeholder 2"/>
          <p:cNvSpPr>
            <a:spLocks noGrp="1"/>
          </p:cNvSpPr>
          <p:nvPr>
            <p:ph type="body" idx="1"/>
          </p:nvPr>
        </p:nvSpPr>
        <p:spPr>
          <a:xfrm>
            <a:off x="963084" y="1611879"/>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Rectangle 3">
            <a:extLst>
              <a:ext uri="{FF2B5EF4-FFF2-40B4-BE49-F238E27FC236}">
                <a16:creationId xmlns:a16="http://schemas.microsoft.com/office/drawing/2014/main" id="{64D8B8CE-DBC2-402F-F776-7642508B65A2}"/>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CA956807-87AD-1B61-6635-A4BD697312DD}"/>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A848E190-73C6-8A24-D8B9-FC7B080DD00D}"/>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A4B39B83-B2B9-A607-75FD-CC4196FDAB4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2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2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64C6C71-8D4C-B542-9542-DE3F868C8BC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DB9C105D-2DC4-B9F4-C1FE-2CAFAE38DB01}"/>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B6159A58-99BB-FD20-30B4-B65A749EE7DB}"/>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178081C7-8D63-717B-E81C-FB6B04A7D54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8" name="Date Placeholder 7">
            <a:extLst>
              <a:ext uri="{FF2B5EF4-FFF2-40B4-BE49-F238E27FC236}">
                <a16:creationId xmlns:a16="http://schemas.microsoft.com/office/drawing/2014/main" id="{58100809-C7AD-AA37-7E54-5E07B4142DB5}"/>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780EC85D-71EC-E3EF-4192-AAB31D7B0AC3}"/>
              </a:ext>
            </a:extLst>
          </p:cNvPr>
          <p:cNvSpPr>
            <a:spLocks noGrp="1"/>
          </p:cNvSpPr>
          <p:nvPr>
            <p:ph type="ftr" sz="quarter" idx="11"/>
          </p:nvPr>
        </p:nvSpPr>
        <p:spPr/>
        <p:txBody>
          <a:bodyPr/>
          <a:lstStyle/>
          <a:p>
            <a:r>
              <a:rPr lang="en-US"/>
              <a:t>© LMU Open Science Center</a:t>
            </a:r>
            <a:endParaRPr lang="en-US" dirty="0"/>
          </a:p>
        </p:txBody>
      </p:sp>
      <p:sp>
        <p:nvSpPr>
          <p:cNvPr id="13" name="Slide Number Placeholder 12">
            <a:extLst>
              <a:ext uri="{FF2B5EF4-FFF2-40B4-BE49-F238E27FC236}">
                <a16:creationId xmlns:a16="http://schemas.microsoft.com/office/drawing/2014/main" id="{76473786-B1D7-CA2F-C7C4-09172E081B2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2">
            <a:extLst>
              <a:ext uri="{FF2B5EF4-FFF2-40B4-BE49-F238E27FC236}">
                <a16:creationId xmlns:a16="http://schemas.microsoft.com/office/drawing/2014/main" id="{BCEB6D96-52B9-49DF-A40F-D3028B8FC97F}"/>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4" name="Date Placeholder 3">
            <a:extLst>
              <a:ext uri="{FF2B5EF4-FFF2-40B4-BE49-F238E27FC236}">
                <a16:creationId xmlns:a16="http://schemas.microsoft.com/office/drawing/2014/main" id="{B77221D3-5266-DD6F-83AC-F0960F93CB40}"/>
              </a:ext>
            </a:extLst>
          </p:cNvPr>
          <p:cNvSpPr>
            <a:spLocks noGrp="1"/>
          </p:cNvSpPr>
          <p:nvPr>
            <p:ph type="dt" sz="half" idx="10"/>
          </p:nvPr>
        </p:nvSpPr>
        <p:spPr/>
        <p:txBody>
          <a:bodyPr/>
          <a:lstStyle/>
          <a:p>
            <a:pPr algn="ctr"/>
            <a:r>
              <a:rPr lang="en-US"/>
              <a:t>DATE</a:t>
            </a:r>
            <a:endParaRPr lang="en-US" dirty="0"/>
          </a:p>
        </p:txBody>
      </p:sp>
      <p:sp>
        <p:nvSpPr>
          <p:cNvPr id="5" name="Footer Placeholder 4">
            <a:extLst>
              <a:ext uri="{FF2B5EF4-FFF2-40B4-BE49-F238E27FC236}">
                <a16:creationId xmlns:a16="http://schemas.microsoft.com/office/drawing/2014/main" id="{DDEB8BF7-B98F-B2C1-BBC4-836DAD84D3E3}"/>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65B4E053-B4BD-4273-20F1-F1F6E73ED32B}"/>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F01941-7737-2934-6952-CCA6B638ACA0}"/>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3" name="Date Placeholder 2">
            <a:extLst>
              <a:ext uri="{FF2B5EF4-FFF2-40B4-BE49-F238E27FC236}">
                <a16:creationId xmlns:a16="http://schemas.microsoft.com/office/drawing/2014/main" id="{A524AD1A-09DE-80F2-211E-50D2602CBB2F}"/>
              </a:ext>
            </a:extLst>
          </p:cNvPr>
          <p:cNvSpPr>
            <a:spLocks noGrp="1"/>
          </p:cNvSpPr>
          <p:nvPr>
            <p:ph type="dt" sz="half" idx="10"/>
          </p:nvPr>
        </p:nvSpPr>
        <p:spPr/>
        <p:txBody>
          <a:bodyPr/>
          <a:lstStyle/>
          <a:p>
            <a:pPr algn="ctr"/>
            <a:r>
              <a:rPr lang="en-US"/>
              <a:t>DATE</a:t>
            </a:r>
            <a:endParaRPr lang="en-US" dirty="0"/>
          </a:p>
        </p:txBody>
      </p:sp>
      <p:sp>
        <p:nvSpPr>
          <p:cNvPr id="4" name="Footer Placeholder 3">
            <a:extLst>
              <a:ext uri="{FF2B5EF4-FFF2-40B4-BE49-F238E27FC236}">
                <a16:creationId xmlns:a16="http://schemas.microsoft.com/office/drawing/2014/main" id="{C64D603C-1DE0-937A-1F64-CF31D2545F5B}"/>
              </a:ext>
            </a:extLst>
          </p:cNvPr>
          <p:cNvSpPr>
            <a:spLocks noGrp="1"/>
          </p:cNvSpPr>
          <p:nvPr>
            <p:ph type="ftr" sz="quarter" idx="11"/>
          </p:nvPr>
        </p:nvSpPr>
        <p:spPr/>
        <p:txBody>
          <a:bodyPr/>
          <a:lstStyle/>
          <a:p>
            <a:r>
              <a:rPr lang="en-US"/>
              <a:t>© LMU Open Science Center</a:t>
            </a:r>
            <a:endParaRPr lang="en-US" dirty="0"/>
          </a:p>
        </p:txBody>
      </p:sp>
      <p:sp>
        <p:nvSpPr>
          <p:cNvPr id="8" name="Slide Number Placeholder 7">
            <a:extLst>
              <a:ext uri="{FF2B5EF4-FFF2-40B4-BE49-F238E27FC236}">
                <a16:creationId xmlns:a16="http://schemas.microsoft.com/office/drawing/2014/main" id="{659CFA45-E807-CF9C-9148-21ED45D59DB5}"/>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200" b="1"/>
            </a:lvl1pPr>
          </a:lstStyle>
          <a:p>
            <a:r>
              <a:rPr lang="en-US" dirty="0"/>
              <a:t>Click to edit Master title style</a:t>
            </a:r>
          </a:p>
        </p:txBody>
      </p:sp>
      <p:sp>
        <p:nvSpPr>
          <p:cNvPr id="3" name="Content Placeholder 2"/>
          <p:cNvSpPr>
            <a:spLocks noGrp="1"/>
          </p:cNvSpPr>
          <p:nvPr>
            <p:ph idx="1"/>
          </p:nvPr>
        </p:nvSpPr>
        <p:spPr>
          <a:xfrm>
            <a:off x="4766733" y="1435100"/>
            <a:ext cx="6815667" cy="4691065"/>
          </a:xfrm>
        </p:spPr>
        <p:txBody>
          <a:bodyPr anchor="ctr"/>
          <a:lstStyle>
            <a:lvl1pPr>
              <a:defRPr sz="22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 Master text styles</a:t>
            </a:r>
          </a:p>
        </p:txBody>
      </p:sp>
      <p:sp>
        <p:nvSpPr>
          <p:cNvPr id="5" name="Rectangle 4">
            <a:extLst>
              <a:ext uri="{FF2B5EF4-FFF2-40B4-BE49-F238E27FC236}">
                <a16:creationId xmlns:a16="http://schemas.microsoft.com/office/drawing/2014/main" id="{2F13ACB6-AD35-166A-7095-CE78FB7C65DC}"/>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4D4823E0-4AC4-556E-D341-7EC0B24627F1}"/>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DA033808-7DA7-BCE5-7841-A080B9791E38}"/>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1D6DC9D-A966-EA21-E561-10535CC769C8}"/>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BEDD9C9F-3905-36C7-15CB-BACF4406BE2F}"/>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FB50E993-3E74-7605-4B1C-089FC5994AF0}"/>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AA2A021D-E01D-7241-598C-56E146616C09}"/>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8AB907D2-6A5F-9B5B-F5B4-C4FEA6389021}"/>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D2DF6E15-AA63-3763-7F86-DACADBA35FC9}"/>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2FD9BD05-D78E-3984-8BF6-5DC5BAB2C98D}"/>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84583088-CCF2-B670-1C52-71D2A0DA5FBC}"/>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304BE907-8A33-EAC8-E40E-042F62D8A32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5BF45B85-27C4-5A2F-EC81-52FBC9699338}"/>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8F83EC60-CE7B-06F0-476B-80CB9CE1F2F7}"/>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8A9AB982-9F02-36B3-80ED-6CFB05C7536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sv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84148"/>
            <a:ext cx="10972800" cy="1143000"/>
          </a:xfrm>
          <a:prstGeom prst="rect">
            <a:avLst/>
          </a:prstGeom>
        </p:spPr>
        <p:txBody>
          <a:bodyPr anchor="b"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609600" y="1600201"/>
            <a:ext cx="10972800" cy="4525963"/>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2660973" y="6365491"/>
            <a:ext cx="1818468" cy="298452"/>
          </a:xfrm>
          <a:prstGeom prst="rect">
            <a:avLst/>
          </a:prstGeom>
        </p:spPr>
        <p:txBody>
          <a:bodyPr anchor="ctr" bIns="45720" lIns="91440" rIns="91440" rtlCol="0" tIns="45720" vert="horz"/>
          <a:lstStyle>
            <a:lvl1pPr algn="l">
              <a:defRPr sz="1200">
                <a:solidFill>
                  <a:schemeClr val="tx1">
                    <a:tint val="75000"/>
                  </a:schemeClr>
                </a:solidFill>
              </a:defRPr>
            </a:lvl1pPr>
          </a:lstStyle>
          <a:p>
            <a:pPr algn="ctr"/>
            <a:r>
              <a:rPr lang="en-US"/>
              <a:t>DATE</a:t>
            </a:r>
            <a:endParaRPr dirty="0" lang="en-US"/>
          </a:p>
        </p:txBody>
      </p:sp>
      <p:sp>
        <p:nvSpPr>
          <p:cNvPr id="5" name="Footer Placeholder 4"/>
          <p:cNvSpPr>
            <a:spLocks noGrp="1"/>
          </p:cNvSpPr>
          <p:nvPr>
            <p:ph idx="3" sz="quarter" type="ftr"/>
          </p:nvPr>
        </p:nvSpPr>
        <p:spPr>
          <a:xfrm>
            <a:off x="4722678" y="6365489"/>
            <a:ext cx="2746644" cy="298452"/>
          </a:xfrm>
          <a:prstGeom prst="rect">
            <a:avLst/>
          </a:prstGeom>
        </p:spPr>
        <p:txBody>
          <a:bodyPr anchor="ctr" bIns="45720" lIns="91440" rIns="91440" rtlCol="0" tIns="45720" vert="horz"/>
          <a:lstStyle>
            <a:lvl1pPr algn="ctr">
              <a:defRPr sz="1200">
                <a:solidFill>
                  <a:schemeClr val="tx1">
                    <a:tint val="75000"/>
                  </a:schemeClr>
                </a:solidFill>
              </a:defRPr>
            </a:lvl1pPr>
          </a:lstStyle>
          <a:p>
            <a:r>
              <a:rPr dirty="0" lang="en-US"/>
              <a:t>© LMU Open Science Center</a:t>
            </a:r>
          </a:p>
        </p:txBody>
      </p:sp>
      <p:sp>
        <p:nvSpPr>
          <p:cNvPr id="6" name="Slide Number Placeholder 5"/>
          <p:cNvSpPr>
            <a:spLocks noGrp="1"/>
          </p:cNvSpPr>
          <p:nvPr>
            <p:ph idx="4" sz="quarter" type="sldNum"/>
          </p:nvPr>
        </p:nvSpPr>
        <p:spPr>
          <a:xfrm>
            <a:off x="9763932" y="6365488"/>
            <a:ext cx="1818468" cy="298453"/>
          </a:xfrm>
          <a:prstGeom prst="rect">
            <a:avLst/>
          </a:prstGeom>
        </p:spPr>
        <p:txBody>
          <a:bodyPr anchor="ctr" bIns="45720" lIns="91440" rIns="91440" rtlCol="0" tIns="45720" vert="horz"/>
          <a:lstStyle>
            <a:lvl1pPr algn="r">
              <a:defRPr sz="1200">
                <a:solidFill>
                  <a:schemeClr val="tx1">
                    <a:tint val="75000"/>
                  </a:schemeClr>
                </a:solidFill>
              </a:defRPr>
            </a:lvl1pPr>
          </a:lstStyle>
          <a:p>
            <a:fld id="{C5EF2332-01BF-834F-8236-50238282D533}" type="slidenum">
              <a:rPr lang="en-US" smtClean="0"/>
              <a:pPr/>
              <a:t>‹#›</a:t>
            </a:fld>
            <a:endParaRPr dirty="0" lang="en-US"/>
          </a:p>
        </p:txBody>
      </p:sp>
      <p:pic>
        <p:nvPicPr>
          <p:cNvPr id="7" name="Graphic 6">
            <a:extLst>
              <a:ext uri="{FF2B5EF4-FFF2-40B4-BE49-F238E27FC236}">
                <a16:creationId xmlns:a16="http://schemas.microsoft.com/office/drawing/2014/main" id="{30C9838F-E9D5-154A-4897-DCE30A8465B5}"/>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03200" y="6300320"/>
            <a:ext cx="1143429" cy="428785"/>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189" eaLnBrk="1" hangingPunct="1" latinLnBrk="0" rtl="0">
        <a:spcBef>
          <a:spcPct val="0"/>
        </a:spcBef>
        <a:buNone/>
        <a:defRPr b="1" i="0" kern="1200" sz="3200">
          <a:solidFill>
            <a:schemeClr val="tx1"/>
          </a:solidFill>
          <a:latin charset="0" panose="020B0004020202020204" pitchFamily="34" typeface="Aptos ExtraBold"/>
          <a:ea charset="0" panose="020B0604030504040204" pitchFamily="34" typeface="Verdana"/>
          <a:cs charset="0" panose="020B0604030504040204" pitchFamily="34" typeface="Verdana"/>
        </a:defRPr>
      </a:lvl1pPr>
    </p:titleStyle>
    <p:bodyStyle>
      <a:lvl1pPr algn="l" defTabSz="457189" eaLnBrk="1" hangingPunct="1" indent="-457189" latinLnBrk="0" marL="457189" rtl="0">
        <a:spcBef>
          <a:spcPct val="20000"/>
        </a:spcBef>
        <a:buFont charset="0" panose="020B0604020202020204" pitchFamily="34" typeface="Arial"/>
        <a:buChar char="•"/>
        <a:defRPr b="0" i="0" kern="1200" sz="2200">
          <a:solidFill>
            <a:schemeClr val="tx1"/>
          </a:solidFill>
          <a:latin charset="0" panose="020B0004020202020204" pitchFamily="34" typeface="Aptos"/>
          <a:ea charset="0" panose="020B0604030504040204" pitchFamily="34" typeface="Verdana"/>
          <a:cs charset="0" panose="020B0604030504040204" pitchFamily="34" typeface="Verdana"/>
        </a:defRPr>
      </a:lvl1pPr>
      <a:lvl2pPr algn="l" defTabSz="457189" eaLnBrk="1" hangingPunct="1" indent="-461422" latinLnBrk="0" marL="768331" rtl="0">
        <a:spcBef>
          <a:spcPct val="20000"/>
        </a:spcBef>
        <a:buFont charset="2" pitchFamily="2" typeface="Wingdings"/>
        <a:buChar char="§"/>
        <a:tabLst/>
        <a:defRPr b="0" i="0" kern="1200" sz="2000">
          <a:solidFill>
            <a:schemeClr val="tx1"/>
          </a:solidFill>
          <a:latin charset="0" panose="020B0004020202020204" pitchFamily="34" typeface="Aptos"/>
          <a:ea charset="0" panose="020B0604030504040204" pitchFamily="34" typeface="Verdana"/>
          <a:cs charset="0" panose="020B0604030504040204" pitchFamily="34" typeface="Verdana"/>
        </a:defRPr>
      </a:lvl2pPr>
      <a:lvl3pPr algn="l" defTabSz="457189" eaLnBrk="1" hangingPunct="1" indent="-452955" latinLnBrk="0" marL="1149322" rtl="0">
        <a:spcBef>
          <a:spcPct val="20000"/>
        </a:spcBef>
        <a:buFont charset="0" panose="02070309020205020404" pitchFamily="49" typeface="Courier New"/>
        <a:buChar char="o"/>
        <a:tabLst/>
        <a:defRPr b="0" i="0" kern="1200" sz="1800">
          <a:solidFill>
            <a:schemeClr val="tx1"/>
          </a:solidFill>
          <a:latin charset="0" panose="020B0004020202020204" pitchFamily="34" typeface="Aptos"/>
          <a:ea charset="0" panose="020B0604030504040204" pitchFamily="34" typeface="Verdana"/>
          <a:cs charset="0" panose="020B0604030504040204" pitchFamily="34" typeface="Verdana"/>
        </a:defRPr>
      </a:lvl3pPr>
      <a:lvl4pPr algn="l" defTabSz="457189" eaLnBrk="1" hangingPunct="1" indent="-461422" latinLnBrk="0" marL="1600160" rtl="0">
        <a:spcBef>
          <a:spcPct val="20000"/>
        </a:spcBef>
        <a:buFont typeface="Arial"/>
        <a:buChar char="–"/>
        <a:tabLst/>
        <a:defRPr b="0" i="0" kern="1200" sz="1600">
          <a:solidFill>
            <a:schemeClr val="tx1"/>
          </a:solidFill>
          <a:latin charset="0" panose="020B0004020202020204" pitchFamily="34" typeface="Aptos"/>
          <a:ea charset="0" panose="020B0604030504040204" pitchFamily="34" typeface="Verdana"/>
          <a:cs charset="0" panose="020B0604030504040204" pitchFamily="34" typeface="Verdana"/>
        </a:defRPr>
      </a:lvl4pPr>
      <a:lvl5pPr algn="l" defTabSz="457189" eaLnBrk="1" hangingPunct="1" indent="-450839" latinLnBrk="0" marL="1989617" rtl="0">
        <a:spcBef>
          <a:spcPct val="20000"/>
        </a:spcBef>
        <a:buFont typeface="Arial"/>
        <a:buChar char="»"/>
        <a:tabLst/>
        <a:defRPr b="0" i="0" kern="1200" sz="1600">
          <a:solidFill>
            <a:schemeClr val="tx1">
              <a:lumMod val="65000"/>
              <a:lumOff val="35000"/>
            </a:schemeClr>
          </a:solidFill>
          <a:latin charset="0" panose="020B0004020202020204" pitchFamily="34" typeface="Aptos"/>
          <a:ea charset="0" panose="020B0604030504040204" pitchFamily="34" typeface="Verdana"/>
          <a:cs charset="0" panose="020B0604030504040204" pitchFamily="34" typeface="Verdana"/>
        </a:defRPr>
      </a:lvl5pPr>
      <a:lvl6pPr algn="l" defTabSz="457189" eaLnBrk="1" hangingPunct="1" indent="-457189" latinLnBrk="0" marL="2743131" rtl="0">
        <a:spcBef>
          <a:spcPct val="20000"/>
        </a:spcBef>
        <a:buFont typeface="Arial"/>
        <a:buChar char="•"/>
        <a:defRPr kern="1200" sz="2000">
          <a:solidFill>
            <a:schemeClr val="tx1"/>
          </a:solidFill>
          <a:latin typeface="+mn-lt"/>
          <a:ea typeface="+mn-ea"/>
          <a:cs typeface="+mn-cs"/>
        </a:defRPr>
      </a:lvl6pPr>
      <a:lvl7pPr algn="l" defTabSz="457189" eaLnBrk="1" hangingPunct="1" indent="-457189" latinLnBrk="0" marL="3200320" rtl="0">
        <a:spcBef>
          <a:spcPct val="20000"/>
        </a:spcBef>
        <a:buFont typeface="Arial"/>
        <a:buChar char="•"/>
        <a:defRPr kern="1200" sz="2000">
          <a:solidFill>
            <a:schemeClr val="tx1"/>
          </a:solidFill>
          <a:latin typeface="+mn-lt"/>
          <a:ea typeface="+mn-ea"/>
          <a:cs typeface="+mn-cs"/>
        </a:defRPr>
      </a:lvl7pPr>
      <a:lvl8pPr algn="l" defTabSz="457189" eaLnBrk="1" hangingPunct="1" indent="-457189" latinLnBrk="0" marL="3657509" rtl="0">
        <a:spcBef>
          <a:spcPct val="20000"/>
        </a:spcBef>
        <a:buFont typeface="Arial"/>
        <a:buChar char="•"/>
        <a:defRPr kern="1200" sz="2000">
          <a:solidFill>
            <a:schemeClr val="tx1"/>
          </a:solidFill>
          <a:latin typeface="+mn-lt"/>
          <a:ea typeface="+mn-ea"/>
          <a:cs typeface="+mn-cs"/>
        </a:defRPr>
      </a:lvl8pPr>
      <a:lvl9pPr algn="l" defTabSz="457189" eaLnBrk="1" hangingPunct="1" indent="-457189" latinLnBrk="0" marL="4114697"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189" eaLnBrk="1" hangingPunct="1" latinLnBrk="0" marL="0" rtl="0">
        <a:defRPr kern="1200" sz="1800">
          <a:solidFill>
            <a:schemeClr val="tx1"/>
          </a:solidFill>
          <a:latin typeface="+mn-lt"/>
          <a:ea typeface="+mn-ea"/>
          <a:cs typeface="+mn-cs"/>
        </a:defRPr>
      </a:lvl1pPr>
      <a:lvl2pPr algn="l" defTabSz="457189" eaLnBrk="1" hangingPunct="1" latinLnBrk="0" marL="457189" rtl="0">
        <a:defRPr kern="1200" sz="1800">
          <a:solidFill>
            <a:schemeClr val="tx1"/>
          </a:solidFill>
          <a:latin typeface="+mn-lt"/>
          <a:ea typeface="+mn-ea"/>
          <a:cs typeface="+mn-cs"/>
        </a:defRPr>
      </a:lvl2pPr>
      <a:lvl3pPr algn="l" defTabSz="457189" eaLnBrk="1" hangingPunct="1" latinLnBrk="0" marL="914377" rtl="0">
        <a:defRPr kern="1200" sz="1800">
          <a:solidFill>
            <a:schemeClr val="tx1"/>
          </a:solidFill>
          <a:latin typeface="+mn-lt"/>
          <a:ea typeface="+mn-ea"/>
          <a:cs typeface="+mn-cs"/>
        </a:defRPr>
      </a:lvl3pPr>
      <a:lvl4pPr algn="l" defTabSz="457189" eaLnBrk="1" hangingPunct="1" latinLnBrk="0" marL="1371566" rtl="0">
        <a:defRPr kern="1200" sz="1800">
          <a:solidFill>
            <a:schemeClr val="tx1"/>
          </a:solidFill>
          <a:latin typeface="+mn-lt"/>
          <a:ea typeface="+mn-ea"/>
          <a:cs typeface="+mn-cs"/>
        </a:defRPr>
      </a:lvl4pPr>
      <a:lvl5pPr algn="l" defTabSz="457189" eaLnBrk="1" hangingPunct="1" latinLnBrk="0" marL="1828754" rtl="0">
        <a:defRPr kern="1200" sz="1800">
          <a:solidFill>
            <a:schemeClr val="tx1"/>
          </a:solidFill>
          <a:latin typeface="+mn-lt"/>
          <a:ea typeface="+mn-ea"/>
          <a:cs typeface="+mn-cs"/>
        </a:defRPr>
      </a:lvl5pPr>
      <a:lvl6pPr algn="l" defTabSz="457189" eaLnBrk="1" hangingPunct="1" latinLnBrk="0" marL="2285943" rtl="0">
        <a:defRPr kern="1200" sz="1800">
          <a:solidFill>
            <a:schemeClr val="tx1"/>
          </a:solidFill>
          <a:latin typeface="+mn-lt"/>
          <a:ea typeface="+mn-ea"/>
          <a:cs typeface="+mn-cs"/>
        </a:defRPr>
      </a:lvl6pPr>
      <a:lvl7pPr algn="l" defTabSz="457189" eaLnBrk="1" hangingPunct="1" latinLnBrk="0" marL="2743131" rtl="0">
        <a:defRPr kern="1200" sz="1800">
          <a:solidFill>
            <a:schemeClr val="tx1"/>
          </a:solidFill>
          <a:latin typeface="+mn-lt"/>
          <a:ea typeface="+mn-ea"/>
          <a:cs typeface="+mn-cs"/>
        </a:defRPr>
      </a:lvl7pPr>
      <a:lvl8pPr algn="l" defTabSz="457189" eaLnBrk="1" hangingPunct="1" latinLnBrk="0" marL="3200320" rtl="0">
        <a:defRPr kern="1200" sz="1800">
          <a:solidFill>
            <a:schemeClr val="tx1"/>
          </a:solidFill>
          <a:latin typeface="+mn-lt"/>
          <a:ea typeface="+mn-ea"/>
          <a:cs typeface="+mn-cs"/>
        </a:defRPr>
      </a:lvl8pPr>
      <a:lvl9pPr algn="l" defTabSz="457189" eaLnBrk="1" hangingPunct="1" latinLnBrk="0" marL="3657509"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2" userDrawn="1">
          <p15:clr>
            <a:srgbClr val="F26B43"/>
          </p15:clr>
        </p15:guide>
        <p15:guide id="2" pos="128" userDrawn="1">
          <p15:clr>
            <a:srgbClr val="F26B43"/>
          </p15:clr>
        </p15:guide>
        <p15:guide id="3" orient="horz" pos="4208" userDrawn="1">
          <p15:clr>
            <a:srgbClr val="F26B43"/>
          </p15:clr>
        </p15:guide>
        <p15:guide id="4" pos="7552" userDrawn="1">
          <p15:clr>
            <a:srgbClr val="F26B43"/>
          </p15:clr>
        </p15:guide>
        <p15:guide id="5"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sa/4.0/deed.en" TargetMode="External" /><Relationship Id="rId4" Type="http://schemas.openxmlformats.org/officeDocument/2006/relationships/hyperlink" Target="https://creativecommons.org/publicdomain/zero/1.0/" TargetMode="External" /><Relationship Id="rId5" Type="http://schemas.openxmlformats.org/officeDocument/2006/relationships/hyperlink" Target="https://orcid.org/0000-0002-6413-3895" TargetMode="External" /><Relationship Id="rId6" Type="http://schemas.openxmlformats.org/officeDocument/2006/relationships/hyperlink" Target="https://orcid.org/0009-0000-0305%209751" TargetMode="External" /><Relationship Id="rId7" Type="http://schemas.openxmlformats.org/officeDocument/2006/relationships/hyperlink" Target="https://creativecommons.org/licenses/by-sa/4.0/deed.en" TargetMode="External" /><Relationship Id="rId8" Type="http://schemas.openxmlformats.org/officeDocument/2006/relationships/hyperlink" Target="https://creativecommons.org/publicdomain/zero/1.0/"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0-0305-9751" TargetMode="External" /><Relationship Id="rId3" Type="http://schemas.openxmlformats.org/officeDocument/2006/relationships/hyperlink" Target="https://orcid.org/0000-0002-6413-3895"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hyperlink" Target="https://www.zotero.org/download/" TargetMode="External" /><Relationship Id="rId4" Type="http://schemas.openxmlformats.org/officeDocument/2006/relationships/hyperlink" Target="https://cran.rstudio.com/" TargetMode="External" /><Relationship Id="rId5" Type="http://schemas.openxmlformats.org/officeDocument/2006/relationships/hyperlink" Target="https://posit.co/download/rstudio-desktop/"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 Id="rId3" Type="http://schemas.openxmlformats.org/officeDocument/2006/relationships/image" Target="../media/image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4.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 Id="rId3" Type="http://schemas.openxmlformats.org/officeDocument/2006/relationships/image" Target="../media/image5.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s://doi.org/xx.xxx/yyyy"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www.zotero.org/" TargetMode="External" /><Relationship Id="rId4" Type="http://schemas.openxmlformats.org/officeDocument/2006/relationships/hyperlink" Target="https://www.mendeley.com/" TargetMode="External" /><Relationship Id="rId5" Type="http://schemas.openxmlformats.org/officeDocument/2006/relationships/hyperlink" Target="https://lumivero.com/products/citavi/"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6.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lmu-osc.github.io/introduction-to-zotero/background/zotero_basics.html" TargetMode="External" /><Relationship Id="rId4" Type="http://schemas.openxmlformats.org/officeDocument/2006/relationships/hyperlink" Target="https://lmu-osc.github.io/introduction-to-zotero/background/zotero_basics.html"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pPr lvl="0" indent="0" marL="0">
              <a:buNone/>
            </a:pPr>
            <a:r>
              <a:rPr/>
              <a:t>Citing made simple: A practical guide for Zotero</a:t>
            </a:r>
          </a:p>
        </p:txBody>
      </p:sp>
      <p:sp>
        <p:nvSpPr>
          <p:cNvPr id="3" name="Subtitle 2"/>
          <p:cNvSpPr>
            <a:spLocks noGrp="1"/>
          </p:cNvSpPr>
          <p:nvPr>
            <p:ph idx="1" type="subTitle"/>
          </p:nvPr>
        </p:nvSpPr>
        <p:spPr>
          <a:xfrm>
            <a:off x="1828800" y="3886200"/>
            <a:ext cx="8534400" cy="1752600"/>
          </a:xfrm>
        </p:spPr>
        <p:txBody>
          <a:bodyPr/>
          <a:lstStyle/>
          <a:p>
            <a:pPr lvl="0" indent="0" marL="0">
              <a:buNone/>
            </a:pPr>
            <a:r>
              <a:rPr/>
              <a:t>Tejaswini Sharma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a:t>
            </a:r>
          </a:p>
        </p:txBody>
      </p:sp>
      <p:sp>
        <p:nvSpPr>
          <p:cNvPr id="3" name="Content Placeholder 2"/>
          <p:cNvSpPr>
            <a:spLocks noGrp="1"/>
          </p:cNvSpPr>
          <p:nvPr>
            <p:ph idx="1"/>
          </p:nvPr>
        </p:nvSpPr>
        <p:spPr/>
        <p:txBody>
          <a:bodyPr/>
          <a:lstStyle/>
          <a:p>
            <a:pPr lvl="0" indent="0" marL="0">
              <a:buNone/>
            </a:pPr>
            <a:r>
              <a:rPr/>
              <a:t>This work was originally created by Pat Callahan and Dejana Damjanovic under a CC-BY-SA 4.0 </a:t>
            </a:r>
            <a:r>
              <a:rPr>
                <a:hlinkClick r:id="rId3"/>
              </a:rPr>
              <a:t>Creative Commons Attribution 4.0 International License</a:t>
            </a:r>
            <a:r>
              <a:rPr/>
              <a:t> and a CC0 1.0 </a:t>
            </a:r>
            <a:r>
              <a:rPr>
                <a:hlinkClick r:id="rId4"/>
              </a:rPr>
              <a:t>Creative Commons Universal</a:t>
            </a:r>
            <a:r>
              <a:rPr/>
              <a:t> licence for code snippets. It was subsequently adapted and revised by </a:t>
            </a:r>
            <a:r>
              <a:rPr>
                <a:hlinkClick r:id="rId5"/>
              </a:rPr>
              <a:t>Sarah von Grebmer zu Wolfsthurn</a:t>
            </a:r>
            <a:r>
              <a:rPr/>
              <a:t>. This current work by </a:t>
            </a:r>
            <a:r>
              <a:rPr>
                <a:hlinkClick r:id="rId6"/>
              </a:rPr>
              <a:t>Tejaswini Sharma</a:t>
            </a:r>
            <a:r>
              <a:rPr/>
              <a:t> and Sarah von Grebmer zu Wolfsthurn is licensed under a CC-BY-SA 4.0 </a:t>
            </a:r>
            <a:r>
              <a:rPr>
                <a:hlinkClick r:id="rId7"/>
              </a:rPr>
              <a:t>Creative Commons Attribution 4.0 International SA License</a:t>
            </a:r>
            <a:r>
              <a:rPr/>
              <a:t>. permits unrestricted re-use, distribution, and reproduction in any medium, provided the original work is properly cited. If you remix, transform, or build upon the material, you must distribute your contributions under the same license as the original. Code snippets are dedicated to the public domain and licenced under a CC0 1.0 </a:t>
            </a:r>
            <a:r>
              <a:rPr>
                <a:hlinkClick r:id="rId8"/>
              </a:rPr>
              <a:t>Creative Commons Universal Licence</a:t>
            </a:r>
            <a:r>
              <a:rPr/>
              <a:t>. You may use, modify, distribute, and sell the code snippets for any purpose, without permission or attribution. The code snippets are provided “as is”, without warranty of any kind.</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Sharma, Tejaswini (</a:t>
            </a:r>
            <a:r>
              <a:rPr>
                <a:hlinkClick r:id="rId2"/>
              </a:rPr>
              <a:t>Orcid-ID: 00009-0000-0305-9751</a:t>
            </a:r>
            <a:r>
              <a:rPr/>
              <a:t>)</a:t>
            </a:r>
          </a:p>
          <a:p>
            <a:pPr lvl="0" indent="0" marL="0">
              <a:buNone/>
            </a:pPr>
            <a:r>
              <a:rPr b="1"/>
              <a:t>Reviewer</a:t>
            </a:r>
            <a:r>
              <a:rPr/>
              <a:t>: Von Grebmer zu Wolfsthurn, Sarah (</a:t>
            </a:r>
            <a:r>
              <a:rPr>
                <a:hlinkClick r:id="rId3"/>
              </a:rPr>
              <a:t>Ordcid-ID: 0000-0002-6413-3895</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Prerequisites</a:t>
            </a:r>
          </a:p>
        </p:txBody>
      </p:sp>
      <p:sp>
        <p:nvSpPr>
          <p:cNvPr id="4" name="Text Placeholder 3"/>
          <p:cNvSpPr>
            <a:spLocks noGrp="1"/>
          </p:cNvSpPr>
          <p:nvPr>
            <p:ph idx="2" sz="half" type="body"/>
          </p:nvPr>
        </p:nvSpPr>
        <p:spPr/>
        <p:txBody>
          <a:bodyPr/>
          <a:lstStyle/>
          <a:p>
            <a:pPr lvl="0" indent="0" marL="0">
              <a:buNone/>
            </a:pPr>
            <a:r>
              <a:rPr b="1"/>
              <a:t>Important:</a:t>
            </a:r>
            <a:r>
              <a:rPr/>
              <a:t> Before completing this submodule, please carefully read the following prerequisites.</a:t>
            </a:r>
          </a:p>
        </p:txBody>
      </p:sp>
      <p:graphicFrame>
        <p:nvGraphicFramePr>
          <p:cNvPr id="6" name="Content Placeholder 5"/>
          <p:cNvGraphicFramePr>
            <a:graphicFrameLocks noGrp="1"/>
          </p:cNvGraphicFramePr>
          <p:nvPr>
            <p:ph idx="1"/>
          </p:nvPr>
        </p:nvGraphicFramePr>
        <p:xfrm>
          <a:off x="4762500" y="1435100"/>
          <a:ext cx="6807200" cy="4686300"/>
        </p:xfrm>
        <a:graphic>
          <a:graphicData uri="http://schemas.openxmlformats.org/drawingml/2006/table">
            <a:tbl>
              <a:tblPr firstRow="1" bandRow="1">
                <a:tableStyleId>{5C22544A-7EE6-4342-B048-85BDC9FD1C3A}</a:tableStyleId>
              </a:tblPr>
              <a:tblGrid>
                <a:gridCol w="2273300"/>
                <a:gridCol w="2273300"/>
                <a:gridCol w="22733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Zotero and Zotero Connector</a:t>
                      </a:r>
                    </a:p>
                  </a:txBody>
                </a:tc>
                <a:tc>
                  <a:txBody>
                    <a:bodyPr/>
                    <a:lstStyle/>
                    <a:p>
                      <a:pPr lvl="0" indent="0" marL="0">
                        <a:buNone/>
                      </a:pPr>
                      <a:r>
                        <a:rPr/>
                        <a:t>Citation tool and extension</a:t>
                      </a:r>
                    </a:p>
                  </a:txBody>
                </a:tc>
                <a:tc>
                  <a:txBody>
                    <a:bodyPr/>
                    <a:lstStyle/>
                    <a:p>
                      <a:pPr lvl="0" indent="0" marL="0">
                        <a:buNone/>
                      </a:pPr>
                      <a:r>
                        <a:rPr>
                          <a:hlinkClick r:id="rId3"/>
                        </a:rPr>
                        <a:t>Download Link</a:t>
                      </a:r>
                    </a:p>
                  </a:txBody>
                </a:tc>
              </a:tr>
              <a:tr h="0">
                <a:tc>
                  <a:txBody>
                    <a:bodyPr/>
                    <a:lstStyle/>
                    <a:p>
                      <a:pPr lvl="0" indent="0" marL="0">
                        <a:buNone/>
                      </a:pPr>
                      <a:r>
                        <a:rPr/>
                        <a:t>R</a:t>
                      </a:r>
                    </a:p>
                  </a:txBody>
                </a:tc>
                <a:tc>
                  <a:txBody>
                    <a:bodyPr/>
                    <a:lstStyle/>
                    <a:p>
                      <a:pPr lvl="0" indent="0" marL="0">
                        <a:buNone/>
                      </a:pPr>
                      <a:r>
                        <a:rPr/>
                        <a:t>Version 4.5. or higher</a:t>
                      </a:r>
                    </a:p>
                  </a:txBody>
                </a:tc>
                <a:tc>
                  <a:txBody>
                    <a:bodyPr/>
                    <a:lstStyle/>
                    <a:p>
                      <a:pPr lvl="0" indent="0" marL="0">
                        <a:buNone/>
                      </a:pPr>
                      <a:r>
                        <a:rPr>
                          <a:hlinkClick r:id="rId4"/>
                        </a:rPr>
                        <a:t>Download Link</a:t>
                      </a:r>
                    </a:p>
                  </a:txBody>
                </a:tc>
              </a:tr>
              <a:tr h="0">
                <a:tc>
                  <a:txBody>
                    <a:bodyPr/>
                    <a:lstStyle/>
                    <a:p>
                      <a:pPr lvl="0" indent="0" marL="0">
                        <a:buNone/>
                      </a:pPr>
                      <a:r>
                        <a:rPr/>
                        <a:t>RStudio</a:t>
                      </a:r>
                    </a:p>
                  </a:txBody>
                </a:tc>
                <a:tc>
                  <a:txBody>
                    <a:bodyPr/>
                    <a:lstStyle/>
                    <a:p>
                      <a:pPr lvl="0" indent="0" marL="0">
                        <a:buNone/>
                      </a:pPr>
                      <a:r>
                        <a:rPr/>
                        <a:t>Version 2026.01.1+403 or higher</a:t>
                      </a:r>
                    </a:p>
                  </a:txBody>
                </a:tc>
                <a:tc>
                  <a:txBody>
                    <a:bodyPr/>
                    <a:lstStyle/>
                    <a:p>
                      <a:pPr lvl="0" indent="0" marL="0">
                        <a:buNone/>
                      </a:pPr>
                      <a:r>
                        <a:rPr>
                          <a:hlinkClick r:id="rId5"/>
                        </a:rPr>
                        <a:t>Download Link</a:t>
                      </a:r>
                    </a:p>
                  </a:txBody>
                </a:tc>
              </a:tr>
            </a:tbl>
          </a:graphicData>
        </a:graphic>
      </p:graphicFrame>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October 6, 2020</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Prerequisites (cont.)</a:t>
            </a:r>
          </a:p>
        </p:txBody>
      </p:sp>
      <p:sp>
        <p:nvSpPr>
          <p:cNvPr id="4" name="Text Placeholder 3"/>
          <p:cNvSpPr>
            <a:spLocks noGrp="1"/>
          </p:cNvSpPr>
          <p:nvPr>
            <p:ph idx="2" sz="half" type="body"/>
          </p:nvPr>
        </p:nvSpPr>
        <p:spPr/>
        <p:txBody>
          <a:bodyPr/>
          <a:lstStyle/>
          <a:p>
            <a:pPr lvl="0"/>
            <a:r>
              <a:rPr/>
              <a:t>Familiarity with the concept of </a:t>
            </a:r>
            <a:r>
              <a:rPr b="1"/>
              <a:t>literature review</a:t>
            </a:r>
            <a:r>
              <a:rPr/>
              <a:t>; how and where to access scientific papers, such as </a:t>
            </a:r>
            <a:r>
              <a:rPr i="1"/>
              <a:t>Google Scholar</a:t>
            </a:r>
            <a:r>
              <a:rPr/>
              <a:t>.</a:t>
            </a:r>
          </a:p>
        </p:txBody>
      </p:sp>
      <p:pic>
        <p:nvPicPr>
          <p:cNvPr descr="images/GoogleScholar.png" id="0" name="Picture 1"/>
          <p:cNvPicPr>
            <a:picLocks noGrp="1" noChangeAspect="1"/>
          </p:cNvPicPr>
          <p:nvPr/>
        </p:nvPicPr>
        <p:blipFill>
          <a:blip r:embed="rId3"/>
          <a:stretch>
            <a:fillRect/>
          </a:stretch>
        </p:blipFill>
        <p:spPr bwMode="auto">
          <a:xfrm>
            <a:off x="4762500" y="1739900"/>
            <a:ext cx="6807200" cy="40767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October 6, 2020</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submodule?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citing and referencing scientific papers?</a:t>
            </a:r>
          </a:p>
          <a:p>
            <a:pPr lvl="0" indent="-457189" marL="457189">
              <a:buAutoNum type="alphaLcPeriod"/>
            </a:pPr>
            <a:r>
              <a:rPr/>
              <a:t>I have never heard of it before.</a:t>
            </a:r>
          </a:p>
          <a:p>
            <a:pPr lvl="0" indent="-457189" marL="457189">
              <a:buAutoNum type="alphaLcPeriod"/>
            </a:pPr>
            <a:r>
              <a:rPr/>
              <a:t>I have heard of it but have never worked with it.</a:t>
            </a:r>
          </a:p>
          <a:p>
            <a:pPr lvl="0" indent="-457189" marL="457189">
              <a:buAutoNum type="alphaLcPeriod"/>
            </a:pPr>
            <a:r>
              <a:rPr/>
              <a:t>I have basic understanding and experience with it.</a:t>
            </a:r>
          </a:p>
          <a:p>
            <a:pPr lvl="0" indent="-457189" marL="457189">
              <a:buAutoNum type="alphaLcPeriod"/>
            </a:pPr>
            <a:r>
              <a:rPr/>
              <a:t>I am very familiar and have worked with it extensively.</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457189" marL="457189">
              <a:buAutoNum type="alphaLcPeriod"/>
            </a:pPr>
            <a:r>
              <a:rPr/>
              <a:t>1</a:t>
            </a:r>
          </a:p>
          <a:p>
            <a:pPr lvl="0" indent="-457189" marL="457189">
              <a:buAutoNum type="alphaLcPeriod"/>
            </a:pPr>
            <a:r>
              <a:rPr/>
              <a:t>2</a:t>
            </a:r>
          </a:p>
          <a:p>
            <a:pPr lvl="0" indent="-457189" marL="457189">
              <a:buAutoNum type="alphaLcPeriod"/>
            </a:pPr>
            <a:r>
              <a:rPr/>
              <a:t>3</a:t>
            </a:r>
          </a:p>
          <a:p>
            <a:pPr lvl="0" indent="-457189" marL="457189">
              <a:buAutoNum type="alphaLcPeriod"/>
            </a:pPr>
            <a:r>
              <a:rPr/>
              <a:t>4</a:t>
            </a:r>
          </a:p>
          <a:p>
            <a:pPr lvl="0" indent="-457189" marL="457189">
              <a:buAutoNum type="alphaLcPeriod"/>
            </a:pPr>
            <a:r>
              <a:rPr/>
              <a:t>5</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b="1"/>
              <a:t>What do we see in the results?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we at?</a:t>
            </a:r>
          </a:p>
        </p:txBody>
      </p:sp>
      <p:sp>
        <p:nvSpPr>
          <p:cNvPr id="3" name="Content Placeholder 2"/>
          <p:cNvSpPr>
            <a:spLocks noGrp="1"/>
          </p:cNvSpPr>
          <p:nvPr>
            <p:ph idx="1"/>
          </p:nvPr>
        </p:nvSpPr>
        <p:spPr/>
        <p:txBody>
          <a:bodyPr/>
          <a:lstStyle/>
          <a:p>
            <a:pPr lvl="0" indent="0" marL="0">
              <a:buNone/>
            </a:pPr>
            <a:r>
              <a:rPr b="1"/>
              <a:t>Previously</a:t>
            </a:r>
            <a:r>
              <a:rPr/>
              <a:t>:</a:t>
            </a:r>
          </a:p>
          <a:p>
            <a:pPr lvl="0"/>
            <a:r>
              <a:rPr/>
              <a:t>Familiarization with R basics</a:t>
            </a:r>
          </a:p>
          <a:p>
            <a:pPr lvl="0"/>
            <a:r>
              <a:rPr/>
              <a:t>Advanced R skills</a:t>
            </a:r>
          </a:p>
          <a:p>
            <a:pPr lvl="0"/>
            <a:r>
              <a:rPr/>
              <a:t>Version control with Git</a:t>
            </a:r>
          </a:p>
          <a:p>
            <a:pPr lvl="0"/>
            <a:r>
              <a:rPr/>
              <a:t>Collaborative working with GitHub</a:t>
            </a:r>
          </a:p>
          <a:p>
            <a:pPr lvl="0"/>
            <a:r>
              <a:rPr/>
              <a:t>Introduction to Quarto</a:t>
            </a:r>
          </a:p>
          <a:p>
            <a:pPr lvl="0" indent="0" marL="0">
              <a:buNone/>
            </a:pPr>
            <a:r>
              <a:rPr b="1"/>
              <a:t>Up next</a:t>
            </a:r>
            <a:r>
              <a:rPr/>
              <a:t>:</a:t>
            </a:r>
          </a:p>
          <a:p>
            <a:pPr lvl="0"/>
            <a:r>
              <a:rPr/>
              <a:t>Citations and references: What are they and when/how to use them</a:t>
            </a:r>
          </a:p>
          <a:p>
            <a:pPr lvl="0"/>
            <a:r>
              <a:rPr/>
              <a:t>Citation management tool: Using Zotero in our workflow</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a:t>
            </a:r>
          </a:p>
        </p:txBody>
      </p:sp>
      <p:sp>
        <p:nvSpPr>
          <p:cNvPr id="3" name="Content Placeholder 2"/>
          <p:cNvSpPr>
            <a:spLocks noGrp="1"/>
          </p:cNvSpPr>
          <p:nvPr>
            <p:ph idx="1"/>
          </p:nvPr>
        </p:nvSpPr>
        <p:spPr/>
        <p:txBody>
          <a:bodyPr/>
          <a:lstStyle/>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citations and references?</a:t>
            </a:r>
          </a:p>
        </p:txBody>
      </p:sp>
      <p:sp>
        <p:nvSpPr>
          <p:cNvPr id="3" name="Content Placeholder 2"/>
          <p:cNvSpPr>
            <a:spLocks noGrp="1"/>
          </p:cNvSpPr>
          <p:nvPr>
            <p:ph idx="1" sz="half"/>
          </p:nvPr>
        </p:nvSpPr>
        <p:spPr/>
        <p:txBody>
          <a:bodyPr/>
          <a:lstStyle/>
          <a:p>
            <a:pPr lvl="0" indent="0" marL="0">
              <a:buNone/>
            </a:pPr>
            <a:r>
              <a:rPr b="1"/>
              <a:t>A small thought experiment..</a:t>
            </a:r>
          </a:p>
          <a:p>
            <a:pPr lvl="0" indent="0" marL="0">
              <a:buNone/>
            </a:pPr>
            <a:r>
              <a:rPr/>
              <a:t>Imagine reading various scientific papers to collect knowledge (</a:t>
            </a:r>
            <a:r>
              <a:rPr i="1"/>
              <a:t>= reviewing the literature</a:t>
            </a:r>
            <a:r>
              <a:rPr/>
              <a:t>). When you share this knowledge with someone, they would ask: </a:t>
            </a:r>
            <a:r>
              <a:rPr b="1"/>
              <a:t>“Where did you read this?”</a:t>
            </a:r>
          </a:p>
        </p:txBody>
      </p:sp>
      <p:pic>
        <p:nvPicPr>
          <p:cNvPr descr="images/01_source_meme.png" id="0" name="Picture 1"/>
          <p:cNvPicPr>
            <a:picLocks noGrp="1" noChangeAspect="1"/>
          </p:cNvPicPr>
          <p:nvPr/>
        </p:nvPicPr>
        <p:blipFill>
          <a:blip r:embed="rId3"/>
          <a:stretch>
            <a:fillRect/>
          </a:stretch>
        </p:blipFill>
        <p:spPr bwMode="auto">
          <a:xfrm>
            <a:off x="6197600" y="2667000"/>
            <a:ext cx="5384800" cy="1892300"/>
          </a:xfrm>
          <a:prstGeom prst="rect">
            <a:avLst/>
          </a:prstGeom>
          <a:noFill/>
          <a:ln w="9525">
            <a:noFill/>
            <a:headEnd/>
            <a:tailEnd/>
          </a:ln>
        </p:spPr>
      </p:pic>
      <p:sp>
        <p:nvSpPr>
          <p:cNvPr id="1" name="TextBox 3"/>
          <p:cNvSpPr txBox="1"/>
          <p:nvPr>
            <p:ph idx="1"/>
          </p:nvPr>
        </p:nvSpPr>
        <p:spPr>
          <a:xfrm>
            <a:off x="6197600" y="5613400"/>
            <a:ext cx="5384800" cy="508000"/>
          </a:xfrm>
          <a:prstGeom prst="rect">
            <a:avLst/>
          </a:prstGeom>
          <a:noFill/>
        </p:spPr>
        <p:txBody>
          <a:bodyPr/>
          <a:lstStyle/>
          <a:p>
            <a:pPr lvl="0" indent="0" marL="0" algn="ctr">
              <a:buNone/>
            </a:pPr>
            <a:r>
              <a:rPr/>
              <a:t>Copyright: © FastArcher.</a:t>
            </a:r>
          </a:p>
        </p:txBody>
      </p:sp>
      <p:sp>
        <p:nvSpPr>
          <p:cNvPr id="4" name="Content Placeholder 3"/>
          <p:cNvSpPr>
            <a:spLocks noGrp="1"/>
          </p:cNvSpPr>
          <p:nvPr>
            <p:ph idx="2" sz="half"/>
          </p:nvPr>
        </p:nvSpPr>
        <p:spPr/>
        <p:txBody>
          <a:bodyPr/>
          <a:lstStyle/>
          <a:p>
            <a:pPr lvl="0" indent="0" marL="0">
              <a:buNone/>
            </a:pPr>
            <a:r>
              <a:rPr/>
              <a:t>Thus, you need to </a:t>
            </a:r>
            <a:r>
              <a:rPr b="1"/>
              <a:t>cite</a:t>
            </a:r>
            <a:r>
              <a:rPr/>
              <a:t> the source of your knowledge; in this case, a scientific paper.</a:t>
            </a:r>
          </a:p>
        </p:txBody>
      </p:sp>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October 6, 2020</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What are citations and references?</a:t>
            </a:r>
          </a:p>
        </p:txBody>
      </p:sp>
      <p:sp>
        <p:nvSpPr>
          <p:cNvPr id="4" name="Text Placeholder 3"/>
          <p:cNvSpPr>
            <a:spLocks noGrp="1"/>
          </p:cNvSpPr>
          <p:nvPr>
            <p:ph idx="2" sz="half" type="body"/>
          </p:nvPr>
        </p:nvSpPr>
        <p:spPr/>
        <p:txBody>
          <a:bodyPr/>
          <a:lstStyle/>
          <a:p>
            <a:pPr lvl="0"/>
            <a:r>
              <a:rPr b="1"/>
              <a:t>Citations</a:t>
            </a:r>
            <a:r>
              <a:rPr/>
              <a:t> are the </a:t>
            </a:r>
            <a:r>
              <a:rPr b="1"/>
              <a:t>in‑text pointers</a:t>
            </a:r>
            <a:r>
              <a:rPr/>
              <a:t> to sources you use (e.g., Sharma, 2025).</a:t>
            </a:r>
          </a:p>
        </p:txBody>
      </p:sp>
      <p:pic>
        <p:nvPicPr>
          <p:cNvPr descr="images/02_citation_example.jpg" id="0" name="Picture 1"/>
          <p:cNvPicPr>
            <a:picLocks noGrp="1" noChangeAspect="1"/>
          </p:cNvPicPr>
          <p:nvPr/>
        </p:nvPicPr>
        <p:blipFill>
          <a:blip r:embed="rId3"/>
          <a:stretch>
            <a:fillRect/>
          </a:stretch>
        </p:blipFill>
        <p:spPr bwMode="auto">
          <a:xfrm>
            <a:off x="4762500" y="3390900"/>
            <a:ext cx="6807200" cy="7747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October 6, 2020</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pPr lvl="0" indent="0" marL="0">
              <a:buNone/>
            </a:pPr>
            <a:r>
              <a:rPr/>
              <a:t>What are citations and references? (cont.)</a:t>
            </a:r>
          </a:p>
        </p:txBody>
      </p:sp>
      <p:sp>
        <p:nvSpPr>
          <p:cNvPr id="4" name="Text Placeholder 3"/>
          <p:cNvSpPr>
            <a:spLocks noGrp="1"/>
          </p:cNvSpPr>
          <p:nvPr>
            <p:ph idx="2" sz="half" type="body"/>
          </p:nvPr>
        </p:nvSpPr>
        <p:spPr/>
        <p:txBody>
          <a:bodyPr/>
          <a:lstStyle/>
          <a:p>
            <a:pPr lvl="0"/>
            <a:r>
              <a:rPr/>
              <a:t>Whereas, </a:t>
            </a:r>
            <a:r>
              <a:rPr b="1"/>
              <a:t>references</a:t>
            </a:r>
            <a:r>
              <a:rPr/>
              <a:t> are the </a:t>
            </a:r>
            <a:r>
              <a:rPr b="1"/>
              <a:t>full bibliographic details</a:t>
            </a:r>
            <a:r>
              <a:rPr/>
              <a:t> listed at the end of a paper (</a:t>
            </a:r>
            <a:r>
              <a:rPr b="1"/>
              <a:t>aksnes_citations_2019?</a:t>
            </a:r>
            <a:r>
              <a:rPr/>
              <a:t>).</a:t>
            </a:r>
          </a:p>
        </p:txBody>
      </p:sp>
      <p:pic>
        <p:nvPicPr>
          <p:cNvPr descr="images/03_reference_example.jpg" id="0" name="Picture 1"/>
          <p:cNvPicPr>
            <a:picLocks noGrp="1" noChangeAspect="1"/>
          </p:cNvPicPr>
          <p:nvPr/>
        </p:nvPicPr>
        <p:blipFill>
          <a:blip r:embed="rId3"/>
          <a:stretch>
            <a:fillRect/>
          </a:stretch>
        </p:blipFill>
        <p:spPr bwMode="auto">
          <a:xfrm>
            <a:off x="4762500" y="2984500"/>
            <a:ext cx="6807200" cy="15748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October 6, 2020</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are they needed?</a:t>
            </a:r>
          </a:p>
        </p:txBody>
      </p:sp>
      <p:sp>
        <p:nvSpPr>
          <p:cNvPr id="3" name="Content Placeholder 2"/>
          <p:cNvSpPr>
            <a:spLocks noGrp="1"/>
          </p:cNvSpPr>
          <p:nvPr>
            <p:ph idx="1"/>
          </p:nvPr>
        </p:nvSpPr>
        <p:spPr/>
        <p:txBody>
          <a:bodyPr/>
          <a:lstStyle/>
          <a:p>
            <a:pPr lvl="0" indent="0" marL="0">
              <a:buNone/>
            </a:pPr>
            <a:r>
              <a:rPr/>
              <a:t>From (</a:t>
            </a:r>
            <a:r>
              <a:rPr b="1"/>
              <a:t>aksnes_citations_2019?</a:t>
            </a:r>
            <a:r>
              <a:rPr/>
              <a:t>):</a:t>
            </a:r>
          </a:p>
          <a:p>
            <a:pPr lvl="0"/>
            <a:r>
              <a:rPr b="1"/>
              <a:t>Show what comes from others:</a:t>
            </a:r>
            <a:r>
              <a:rPr/>
              <a:t> References show which ideas and words are yours and which are taken from other people, so you do not steal their work and they get credit.</a:t>
            </a:r>
          </a:p>
          <a:p>
            <a:pPr lvl="0"/>
            <a:r>
              <a:rPr b="1"/>
              <a:t>Back up what you say:</a:t>
            </a:r>
            <a:r>
              <a:rPr/>
              <a:t> References point to earlier studies that support your claims, so readers can see where your ideas fit and how trustworthy they are.</a:t>
            </a:r>
          </a:p>
          <a:p>
            <a:pPr lvl="0"/>
            <a:r>
              <a:rPr b="1"/>
              <a:t>Let others double-check you:</a:t>
            </a:r>
            <a:r>
              <a:rPr/>
              <a:t> Clear citations help others follow your steps, spot mistakes or misquotes, and use your work to do new studies.</a:t>
            </a:r>
          </a:p>
          <a:p>
            <a:pPr lvl="0"/>
            <a:r>
              <a:rPr b="1"/>
              <a:t>Connect ideas and track influence:</a:t>
            </a:r>
            <a:r>
              <a:rPr/>
              <a:t> Citations link papers into a big web of knowledge and are often used (not perfectly) to see which work has had a big impact.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457188" marL="914377">
              <a:buAutoNum type="arabicPeriod"/>
            </a:pPr>
            <a:r>
              <a:rPr/>
              <a:t>Author: all authors’ last names and initials.</a:t>
            </a:r>
          </a:p>
          <a:p>
            <a:pPr lvl="1" indent="-457188" marL="914377">
              <a:buAutoNum type="arabicPeriod"/>
            </a:pPr>
            <a:r>
              <a:rPr/>
              <a:t>Date: When it was published (usually the year).</a:t>
            </a:r>
          </a:p>
          <a:p>
            <a:pPr lvl="1" indent="-457188" marL="914377">
              <a:buAutoNum type="arabicPeriod"/>
            </a:pPr>
            <a:r>
              <a:rPr/>
              <a:t>Title: What the article is called.</a:t>
            </a:r>
          </a:p>
          <a:p>
            <a:pPr lvl="1" indent="-457188" marL="914377">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457188" marL="914377">
              <a:buAutoNum type="arabicPeriod"/>
            </a:pPr>
            <a:r>
              <a:rPr/>
              <a:t>Author: all authors’ last names and initials.</a:t>
            </a:r>
          </a:p>
          <a:p>
            <a:pPr lvl="1" indent="-457188" marL="914377">
              <a:buAutoNum type="arabicPeriod"/>
            </a:pPr>
            <a:r>
              <a:rPr/>
              <a:t>Date: When it was published (usually the year).</a:t>
            </a:r>
          </a:p>
          <a:p>
            <a:pPr lvl="1" indent="-457188" marL="914377">
              <a:buAutoNum type="arabicPeriod"/>
            </a:pPr>
            <a:r>
              <a:rPr/>
              <a:t>Title: What the article is called.</a:t>
            </a:r>
          </a:p>
          <a:p>
            <a:pPr lvl="1" indent="-457188" marL="914377">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a:p>
            <a:pPr lvl="0" indent="0" marL="0">
              <a:buNone/>
            </a:pPr>
            <a:r>
              <a:rPr b="1"/>
              <a:t>Note:</a:t>
            </a:r>
            <a:r>
              <a:rPr/>
              <a:t> The </a:t>
            </a:r>
            <a:r>
              <a:rPr i="1"/>
              <a:t>exact formatting</a:t>
            </a:r>
            <a:r>
              <a:rPr/>
              <a:t> depends on the citation format.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1168400"/>
                <a:gridCol w="2133600"/>
                <a:gridCol w="1333500"/>
                <a:gridCol w="63373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APA</a:t>
                      </a:r>
                    </a:p>
                  </a:txBody>
                </a:tc>
                <a:tc>
                  <a:txBody>
                    <a:bodyPr/>
                    <a:lstStyle/>
                    <a:p>
                      <a:pPr lvl="0" indent="0" marL="0">
                        <a:buNone/>
                      </a:pPr>
                      <a:r>
                        <a:rPr/>
                        <a:t>Social sciences (e.g., psychology, education)</a:t>
                      </a:r>
                    </a:p>
                  </a:txBody>
                </a:tc>
                <a:tc>
                  <a:txBody>
                    <a:bodyPr/>
                    <a:lstStyle/>
                    <a:p>
                      <a:pPr lvl="0" indent="0" marL="0">
                        <a:buNone/>
                      </a:pPr>
                      <a:r>
                        <a:rPr/>
                        <a:t>(Smith &amp; Lee, 2023)</a:t>
                      </a:r>
                    </a:p>
                  </a:txBody>
                </a:tc>
                <a:tc>
                  <a:txBody>
                    <a:bodyPr/>
                    <a:lstStyle/>
                    <a:p>
                      <a:pPr lvl="0" indent="0" marL="0">
                        <a:buNone/>
                      </a:pPr>
                      <a:r>
                        <a:rPr/>
                        <a:t>Smith, J., &amp; Lee, K. (2023). Title of the article. </a:t>
                      </a:r>
                      <a:r>
                        <a:rPr i="1"/>
                        <a:t>Journal Name</a:t>
                      </a:r>
                      <a:r>
                        <a:rPr/>
                        <a:t>, 12(3), 123–145. </a:t>
                      </a:r>
                      <a:r>
                        <a:rPr>
                          <a:hlinkClick r:id="rId3"/>
                        </a:rPr>
                        <a:t>https://doi.org/xx.xxx/yyyy</a:t>
                      </a:r>
                      <a:r>
                        <a:rPr/>
                        <a:t> ​</a:t>
                      </a:r>
                    </a:p>
                  </a:txBody>
                </a:tc>
              </a:tr>
              <a:tr h="0">
                <a:tc>
                  <a:txBody>
                    <a:bodyPr/>
                    <a:lstStyle/>
                    <a:p>
                      <a:pPr lvl="0" indent="0" marL="0">
                        <a:buNone/>
                      </a:pPr>
                      <a:r>
                        <a:rPr/>
                        <a:t>MLA</a:t>
                      </a:r>
                    </a:p>
                  </a:txBody>
                </a:tc>
                <a:tc>
                  <a:txBody>
                    <a:bodyPr/>
                    <a:lstStyle/>
                    <a:p>
                      <a:pPr lvl="0" indent="0" marL="0">
                        <a:buNone/>
                      </a:pPr>
                      <a:r>
                        <a:rPr/>
                        <a:t>Humanities (e.g., literature, languages)</a:t>
                      </a:r>
                    </a:p>
                  </a:txBody>
                </a:tc>
                <a:tc>
                  <a:txBody>
                    <a:bodyPr/>
                    <a:lstStyle/>
                    <a:p>
                      <a:pPr lvl="0" indent="0" marL="0">
                        <a:buNone/>
                      </a:pPr>
                      <a:r>
                        <a:rPr/>
                        <a:t>(Smith and Lee 123)</a:t>
                      </a:r>
                    </a:p>
                  </a:txBody>
                </a:tc>
                <a:tc>
                  <a:txBody>
                    <a:bodyPr/>
                    <a:lstStyle/>
                    <a:p>
                      <a:pPr lvl="0" indent="0" marL="0">
                        <a:buNone/>
                      </a:pPr>
                      <a:r>
                        <a:rPr/>
                        <a:t>Smith, John, and Karen Lee. “Title of the Article.” Journal Name, vol. 12, no. 3, 2023, pp. 123–145. ​</a:t>
                      </a:r>
                    </a:p>
                  </a:txBody>
                </a:tc>
              </a:tr>
              <a:tr h="0">
                <a:tc>
                  <a:txBody>
                    <a:bodyPr/>
                    <a:lstStyle/>
                    <a:p>
                      <a:pPr lvl="0" indent="0" marL="0">
                        <a:buNone/>
                      </a:pPr>
                      <a:r>
                        <a:rPr/>
                        <a:t>Chicago (Notes-Biblio)</a:t>
                      </a:r>
                    </a:p>
                  </a:txBody>
                </a:tc>
                <a:tc>
                  <a:txBody>
                    <a:bodyPr/>
                    <a:lstStyle/>
                    <a:p>
                      <a:pPr lvl="0" indent="0" marL="0">
                        <a:buNone/>
                      </a:pPr>
                      <a:r>
                        <a:rPr/>
                        <a:t>Humanities (e.g., history, arts (footnotes/endnotes)</a:t>
                      </a:r>
                    </a:p>
                  </a:txBody>
                </a:tc>
                <a:tc>
                  <a:txBody>
                    <a:bodyPr/>
                    <a:lstStyle/>
                    <a:p>
                      <a:pPr lvl="0" indent="0" marL="0">
                        <a:buNone/>
                      </a:pPr>
                      <a:r>
                        <a:rPr/>
                        <a:t>¹ or (see note 1)</a:t>
                      </a:r>
                    </a:p>
                  </a:txBody>
                </a:tc>
                <a:tc>
                  <a:txBody>
                    <a:bodyPr/>
                    <a:lstStyle/>
                    <a:p>
                      <a:pPr lvl="0" indent="0" marL="0">
                        <a:buNone/>
                      </a:pPr>
                      <a:r>
                        <a:rPr/>
                        <a:t>Smith, John, and Karen Lee. “Title of the Article.” Journal Name 12, no. 3 (2023): 123–145. ​</a:t>
                      </a:r>
                    </a:p>
                  </a:txBody>
                </a:tc>
              </a:tr>
            </a:tbl>
          </a:graphicData>
        </a:graphic>
      </p:graphicFrame>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 (cont.)</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1168400"/>
                <a:gridCol w="2133600"/>
                <a:gridCol w="1333500"/>
                <a:gridCol w="63373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Chicago (Author‑Date)</a:t>
                      </a:r>
                    </a:p>
                  </a:txBody>
                </a:tc>
                <a:tc>
                  <a:txBody>
                    <a:bodyPr/>
                    <a:lstStyle/>
                    <a:p>
                      <a:pPr lvl="0" indent="0" marL="0">
                        <a:buNone/>
                      </a:pPr>
                      <a:r>
                        <a:rPr/>
                        <a:t>Natural and social sciences</a:t>
                      </a:r>
                    </a:p>
                  </a:txBody>
                </a:tc>
                <a:tc>
                  <a:txBody>
                    <a:bodyPr/>
                    <a:lstStyle/>
                    <a:p>
                      <a:pPr lvl="0" indent="0" marL="0">
                        <a:buNone/>
                      </a:pPr>
                      <a:r>
                        <a:rPr/>
                        <a:t>(Smith and Lee 2023, 123)</a:t>
                      </a:r>
                    </a:p>
                  </a:txBody>
                </a:tc>
                <a:tc>
                  <a:txBody>
                    <a:bodyPr/>
                    <a:lstStyle/>
                    <a:p>
                      <a:pPr lvl="0" indent="0" marL="0">
                        <a:buNone/>
                      </a:pPr>
                      <a:r>
                        <a:rPr/>
                        <a:t>Smith, John, and Karen Lee. 2023. “Title of the Article.” Journal Name 12 (3): 123–145.</a:t>
                      </a:r>
                    </a:p>
                  </a:txBody>
                </a:tc>
              </a:tr>
              <a:tr h="0">
                <a:tc>
                  <a:txBody>
                    <a:bodyPr/>
                    <a:lstStyle/>
                    <a:p>
                      <a:pPr lvl="0" indent="0" marL="0">
                        <a:buNone/>
                      </a:pPr>
                      <a:r>
                        <a:rPr/>
                        <a:t>IEEE</a:t>
                      </a:r>
                    </a:p>
                  </a:txBody>
                </a:tc>
                <a:tc>
                  <a:txBody>
                    <a:bodyPr/>
                    <a:lstStyle/>
                    <a:p>
                      <a:pPr lvl="0" indent="0" marL="0">
                        <a:buNone/>
                      </a:pPr>
                      <a:r>
                        <a:rPr/>
                        <a:t>STEM fields (e.g., engineering, computer science)</a:t>
                      </a:r>
                    </a:p>
                  </a:txBody>
                </a:tc>
                <a:tc>
                  <a:txBody>
                    <a:bodyPr/>
                    <a:lstStyle/>
                    <a:p>
                      <a:pPr lvl="0" indent="0" marL="0">
                        <a:buNone/>
                      </a:pPr>
                      <a:r>
                        <a:rPr/>
                        <a:t>“</a:t>
                      </a:r>
                      <a:r>
                        <a:rPr i="1"/>
                        <a:t>…sample text…</a:t>
                      </a:r>
                      <a:r>
                        <a:rPr/>
                        <a:t> [13]”</a:t>
                      </a:r>
                    </a:p>
                  </a:txBody>
                </a:tc>
                <a:tc>
                  <a:txBody>
                    <a:bodyPr/>
                    <a:lstStyle/>
                    <a:p>
                      <a:pPr lvl="0" indent="0" marL="0">
                        <a:buNone/>
                      </a:pPr>
                      <a:r>
                        <a:rPr/>
                        <a:t>[13] J. Smith and K. Lee, “Title of the article,” Journal Name, vol. 12, no. 3, pp. 123–145, 2023.</a:t>
                      </a:r>
                    </a:p>
                  </a:txBody>
                </a:tc>
              </a:tr>
            </a:tbl>
          </a:graphicData>
        </a:graphic>
      </p:graphicFrame>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Short exercise</a:t>
            </a:r>
          </a:p>
        </p:txBody>
      </p:sp>
      <p:sp>
        <p:nvSpPr>
          <p:cNvPr id="3" name="Content Placeholder 2"/>
          <p:cNvSpPr>
            <a:spLocks noGrp="1"/>
          </p:cNvSpPr>
          <p:nvPr>
            <p:ph idx="1"/>
          </p:nvPr>
        </p:nvSpPr>
        <p:spPr/>
        <p:txBody>
          <a:bodyPr/>
          <a:lstStyle/>
          <a:p>
            <a:pPr lvl="0" indent="0" marL="0">
              <a:buNone/>
            </a:pPr>
            <a:r>
              <a:rPr/>
              <a:t>Use a minute to think about which citation format is used in </a:t>
            </a:r>
            <a:r>
              <a:rPr b="1"/>
              <a:t>your field</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Citation tools</a:t>
            </a:r>
            <a:r>
              <a:rPr/>
              <a:t> (or </a:t>
            </a:r>
            <a:r>
              <a:rPr b="1"/>
              <a:t>reference managers</a:t>
            </a:r>
            <a:r>
              <a:rPr/>
              <a:t>) are apps or software that help you </a:t>
            </a:r>
            <a:r>
              <a:rPr i="1"/>
              <a:t>collect, organize, and format citations</a:t>
            </a:r>
            <a:r>
              <a:rPr/>
              <a:t> for academic essays or scientific research. Examples include:</a:t>
            </a:r>
          </a:p>
          <a:p>
            <a:pPr lvl="0"/>
            <a:r>
              <a:rPr/>
              <a:t>Zotero: </a:t>
            </a:r>
            <a:r>
              <a:rPr>
                <a:hlinkClick r:id="rId3"/>
              </a:rPr>
              <a:t>https://www.zotero.org/</a:t>
            </a:r>
          </a:p>
          <a:p>
            <a:pPr lvl="0"/>
            <a:r>
              <a:rPr/>
              <a:t>Mendeley: </a:t>
            </a:r>
            <a:r>
              <a:rPr>
                <a:hlinkClick r:id="rId4"/>
              </a:rPr>
              <a:t>https://www.mendeley.com/</a:t>
            </a:r>
          </a:p>
          <a:p>
            <a:pPr lvl="0"/>
            <a:r>
              <a:rPr/>
              <a:t>Citavi: </a:t>
            </a:r>
            <a:r>
              <a:rPr>
                <a:hlinkClick r:id="rId5"/>
              </a:rPr>
              <a:t>https://www.citavi.com</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What can they do?</a:t>
            </a:r>
          </a:p>
          <a:p>
            <a:pPr lvl="0"/>
            <a:r>
              <a:rPr/>
              <a:t>Save bibliographic information </a:t>
            </a:r>
            <a:r>
              <a:rPr i="1"/>
              <a:t>from a browser or file</a:t>
            </a:r>
          </a:p>
          <a:p>
            <a:pPr lvl="0"/>
            <a:r>
              <a:rPr/>
              <a:t>Create </a:t>
            </a:r>
            <a:r>
              <a:rPr i="1"/>
              <a:t>in-text citations</a:t>
            </a:r>
          </a:p>
          <a:p>
            <a:pPr lvl="0"/>
            <a:r>
              <a:rPr/>
              <a:t>Add and update references </a:t>
            </a:r>
            <a:r>
              <a:rPr i="1"/>
              <a:t>automatically</a:t>
            </a:r>
          </a:p>
          <a:p>
            <a:pPr lvl="0" indent="0" marL="0">
              <a:buNone/>
            </a:pPr>
            <a:r>
              <a:rPr b="1"/>
              <a:t>Why are they useful?</a:t>
            </a:r>
          </a:p>
          <a:p>
            <a:pPr lvl="0"/>
            <a:r>
              <a:rPr/>
              <a:t>They are </a:t>
            </a:r>
            <a:r>
              <a:rPr i="1"/>
              <a:t>consistent and efficient</a:t>
            </a:r>
            <a:r>
              <a:rPr/>
              <a:t> (broadly speaking)</a:t>
            </a:r>
          </a:p>
          <a:p>
            <a:pPr lvl="0"/>
            <a:r>
              <a:rPr/>
              <a:t>Can produce </a:t>
            </a:r>
            <a:r>
              <a:rPr i="1"/>
              <a:t>different citation formats</a:t>
            </a:r>
          </a:p>
          <a:p>
            <a:pPr lvl="0"/>
            <a:r>
              <a:rPr/>
              <a:t>Can </a:t>
            </a:r>
            <a:r>
              <a:rPr i="1"/>
              <a:t>store attachments</a:t>
            </a:r>
            <a:r>
              <a:rPr/>
              <a:t>, e.g., pdfs, notes, snapshots, urls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at this point?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63084" y="3166963"/>
            <a:ext cx="10363200" cy="1362075"/>
          </a:xfrm>
        </p:spPr>
        <p:txBody>
          <a:bodyPr/>
          <a:lstStyle/>
          <a:p>
            <a:pPr lvl="0" indent="0" marL="0">
              <a:buNone/>
            </a:pPr>
            <a:r>
              <a:rPr/>
              <a:t>Brief overview of Zotero</a:t>
            </a:r>
          </a:p>
        </p:txBody>
      </p:sp>
      <p:sp>
        <p:nvSpPr>
          <p:cNvPr id="5" name="Date Placeholder 4">
            <a:extLst>
              <a:ext uri="{FF2B5EF4-FFF2-40B4-BE49-F238E27FC236}">
                <a16:creationId xmlns:a16="http://schemas.microsoft.com/office/drawing/2014/main" id="{CA956807-87AD-1B61-6635-A4BD697312DD}"/>
              </a:ext>
            </a:extLst>
          </p:cNvPr>
          <p:cNvSpPr>
            <a:spLocks noGrp="1"/>
          </p:cNvSpPr>
          <p:nvPr>
            <p:ph idx="10" sz="half" type="dt"/>
          </p:nvPr>
        </p:nvSpPr>
        <p:spPr/>
        <p:txBody>
          <a:bodyPr/>
          <a:lstStyle/>
          <a:p>
            <a:pPr algn="ctr"/>
            <a:r>
              <a:rPr lang="en-US"/>
              <a:t>October 6, 2020</a:t>
            </a:r>
            <a:endParaRPr dirty="0" lang="en-US"/>
          </a:p>
        </p:txBody>
      </p:sp>
      <p:sp>
        <p:nvSpPr>
          <p:cNvPr id="6" name="Footer Placeholder 5">
            <a:extLst>
              <a:ext uri="{FF2B5EF4-FFF2-40B4-BE49-F238E27FC236}">
                <a16:creationId xmlns:a16="http://schemas.microsoft.com/office/drawing/2014/main" id="{A848E190-73C6-8A24-D8B9-FC7B080DD00D}"/>
              </a:ext>
            </a:extLst>
          </p:cNvPr>
          <p:cNvSpPr>
            <a:spLocks noGrp="1"/>
          </p:cNvSpPr>
          <p:nvPr>
            <p:ph idx="11" sz="quarter" type="ftr"/>
          </p:nvPr>
        </p:nvSpPr>
        <p:spPr/>
        <p:txBody>
          <a:bodyPr/>
          <a:lstStyle/>
          <a:p>
            <a:r>
              <a:rPr lang="en-US"/>
              <a:t>© LMU Open Science Center</a:t>
            </a:r>
            <a:endParaRPr dirty="0" lang="en-US"/>
          </a:p>
        </p:txBody>
      </p:sp>
      <p:sp>
        <p:nvSpPr>
          <p:cNvPr id="10" name="Slide Number Placeholder 9">
            <a:extLst>
              <a:ext uri="{FF2B5EF4-FFF2-40B4-BE49-F238E27FC236}">
                <a16:creationId xmlns:a16="http://schemas.microsoft.com/office/drawing/2014/main" id="{A4B39B83-B2B9-A607-75FD-CC4196FDAB48}"/>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sp>
        <p:nvSpPr>
          <p:cNvPr id="3" name="Content Placeholder 2"/>
          <p:cNvSpPr>
            <a:spLocks noGrp="1"/>
          </p:cNvSpPr>
          <p:nvPr>
            <p:ph idx="1"/>
          </p:nvPr>
        </p:nvSpPr>
        <p:spPr/>
        <p:txBody>
          <a:bodyPr/>
          <a:lstStyle/>
          <a:p>
            <a:pPr lvl="0"/>
            <a:r>
              <a:rPr b="1"/>
              <a:t>Collecting</a:t>
            </a:r>
            <a:r>
              <a:rPr/>
              <a:t>: One-click saving of metadata and attachments (pdfs, snapshots) from literature databases, and websites.</a:t>
            </a:r>
          </a:p>
          <a:p>
            <a:pPr lvl="0"/>
            <a:r>
              <a:rPr b="1"/>
              <a:t>Organizing</a:t>
            </a:r>
            <a:r>
              <a:rPr/>
              <a:t>: Items can be grouped into collections, tagged, and searched.</a:t>
            </a:r>
          </a:p>
          <a:p>
            <a:pPr lvl="0"/>
            <a:r>
              <a:rPr b="1"/>
              <a:t>Citing and referencing</a:t>
            </a:r>
            <a:r>
              <a:rPr/>
              <a:t>: Plugins for Word, Quarto, and Google Docs generate in‑text citations and bibliographies automatically.</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pic>
        <p:nvPicPr>
          <p:cNvPr descr="images/04_zotero_interface.png" id="0" name="Picture 1"/>
          <p:cNvPicPr>
            <a:picLocks noGrp="1" noChangeAspect="1"/>
          </p:cNvPicPr>
          <p:nvPr/>
        </p:nvPicPr>
        <p:blipFill>
          <a:blip r:embed="rId3"/>
          <a:stretch>
            <a:fillRect/>
          </a:stretch>
        </p:blipFill>
        <p:spPr bwMode="auto">
          <a:xfrm>
            <a:off x="2311400" y="1600200"/>
            <a:ext cx="75692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In this next part, you will familiarize yourself with </a:t>
            </a:r>
            <a:r>
              <a:rPr b="1"/>
              <a:t>Zotero</a:t>
            </a:r>
            <a:r>
              <a:rPr/>
              <a:t> through </a:t>
            </a:r>
            <a:r>
              <a:rPr b="1"/>
              <a:t>hands-on exercices and activities</a:t>
            </a:r>
            <a:r>
              <a:rPr/>
              <a:t>:</a:t>
            </a:r>
          </a:p>
          <a:p>
            <a:pPr lvl="0"/>
            <a:r>
              <a:rPr/>
              <a:t>Click here: </a:t>
            </a:r>
            <a:r>
              <a:rPr>
                <a:hlinkClick r:id="rId3"/>
              </a:rPr>
              <a:t>Zotero: Hands-on practical activities</a:t>
            </a:r>
          </a:p>
          <a:p>
            <a:pPr lvl="0"/>
            <a:r>
              <a:rPr/>
              <a:t>Or follow: </a:t>
            </a:r>
            <a:r>
              <a:rPr>
                <a:hlinkClick r:id="rId4"/>
              </a:rPr>
              <a:t>https://lmu-osc.github.io/introduction-to-zotero/background/zotero_basics.html</a:t>
            </a:r>
          </a:p>
          <a:p>
            <a:pPr lvl="0" indent="0" marL="0">
              <a:buNone/>
            </a:pPr>
            <a:r>
              <a:rPr b="1"/>
              <a:t>Tip:</a:t>
            </a:r>
          </a:p>
          <a:p>
            <a:pPr lvl="0" indent="0" marL="0">
              <a:buNone/>
            </a:pPr>
            <a:r>
              <a:rPr/>
              <a:t>Since this is a self-paced tutorial, </a:t>
            </a:r>
            <a:r>
              <a:rPr i="1"/>
              <a:t>take your time</a:t>
            </a:r>
            <a:r>
              <a:rPr/>
              <a:t> on navigating it; and it can be finished at home as well. We will have a </a:t>
            </a:r>
            <a:r>
              <a:rPr b="1"/>
              <a:t>check-in moment</a:t>
            </a:r>
            <a:r>
              <a:rPr/>
              <a:t> at the end of this session and discuss any remaining questions.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Wrapping up</a:t>
            </a:r>
          </a:p>
        </p:txBody>
      </p:sp>
      <p:sp>
        <p:nvSpPr>
          <p:cNvPr id="3" name="Content Placeholder 2"/>
          <p:cNvSpPr>
            <a:spLocks noGrp="1"/>
          </p:cNvSpPr>
          <p:nvPr>
            <p:ph idx="1"/>
          </p:nvPr>
        </p:nvSpPr>
        <p:spPr/>
        <p:txBody>
          <a:bodyPr/>
          <a:lstStyle/>
          <a:p>
            <a:pPr lvl="0"/>
            <a:r>
              <a:rPr b="1"/>
              <a:t>For later</a:t>
            </a:r>
            <a:r>
              <a:rPr/>
              <a:t>: Finish the remaining of the ‘Introduction to Zotero’ tutorial and its exercises at home.</a:t>
            </a:r>
          </a:p>
          <a:p>
            <a:pPr lvl="0"/>
            <a:r>
              <a:rPr b="1"/>
              <a:t>For now</a:t>
            </a:r>
            <a:r>
              <a:rPr/>
              <a:t>: Take one minute to assess your learning progress from the tutorial:</a:t>
            </a:r>
          </a:p>
          <a:p>
            <a:pPr lvl="1"/>
            <a:r>
              <a:rPr/>
              <a:t>What is one key concept about citations or Zotero that became clearer after completing the exercises?</a:t>
            </a:r>
          </a:p>
          <a:p>
            <a:pPr lvl="1"/>
            <a:r>
              <a:rPr/>
              <a:t>Which Zotero task can you now perform confidently, and which one still feels challenging?</a:t>
            </a:r>
          </a:p>
          <a:p>
            <a:pPr lvl="1"/>
            <a:r>
              <a:rPr/>
              <a:t>How easy has it been navigating different CSL formats?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 into the future</a:t>
            </a:r>
          </a:p>
        </p:txBody>
      </p:sp>
      <p:sp>
        <p:nvSpPr>
          <p:cNvPr id="3" name="Content Placeholder 2"/>
          <p:cNvSpPr>
            <a:spLocks noGrp="1"/>
          </p:cNvSpPr>
          <p:nvPr>
            <p:ph idx="1"/>
          </p:nvPr>
        </p:nvSpPr>
        <p:spPr/>
        <p:txBody>
          <a:bodyPr/>
          <a:lstStyle/>
          <a:p>
            <a:pPr lvl="0" indent="-457189" marL="457189">
              <a:buAutoNum type="arabicPeriod"/>
            </a:pPr>
            <a:r>
              <a:rPr b="1"/>
              <a:t>Take a minute to think about the following questions, first for yourself, then in a pair:</a:t>
            </a:r>
          </a:p>
          <a:p>
            <a:pPr lvl="0"/>
            <a:r>
              <a:rPr/>
              <a:t>Can you identify some </a:t>
            </a:r>
            <a:r>
              <a:rPr b="1"/>
              <a:t>practical benefits</a:t>
            </a:r>
            <a:r>
              <a:rPr/>
              <a:t> of using Zotero?</a:t>
            </a:r>
          </a:p>
          <a:p>
            <a:pPr lvl="0"/>
            <a:r>
              <a:rPr/>
              <a:t>What </a:t>
            </a:r>
            <a:r>
              <a:rPr b="1"/>
              <a:t>obstacles</a:t>
            </a:r>
            <a:r>
              <a:rPr/>
              <a:t> do you anticipate in using it consistently?</a:t>
            </a:r>
          </a:p>
          <a:p>
            <a:pPr lvl="0"/>
            <a:r>
              <a:rPr/>
              <a:t>How can Zotero support you in your </a:t>
            </a:r>
            <a:r>
              <a:rPr b="1"/>
              <a:t>upcoming projects</a:t>
            </a:r>
            <a:r>
              <a:rPr/>
              <a:t>?</a:t>
            </a:r>
          </a:p>
          <a:p>
            <a:pPr lvl="0" indent="-457189" marL="457189">
              <a:buAutoNum startAt="2" type="arabicPeriod"/>
            </a:pPr>
            <a:r>
              <a:rPr b="1"/>
              <a:t>Share your thoughts with the group.</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Citations and references are critical for </a:t>
            </a:r>
            <a:r>
              <a:rPr b="1"/>
              <a:t>tracing sources</a:t>
            </a:r>
            <a:r>
              <a:rPr/>
              <a:t> and </a:t>
            </a:r>
            <a:r>
              <a:rPr b="1"/>
              <a:t>giving credit</a:t>
            </a:r>
            <a:r>
              <a:rPr/>
              <a:t> to authors</a:t>
            </a:r>
          </a:p>
          <a:p>
            <a:pPr lvl="0"/>
            <a:r>
              <a:rPr/>
              <a:t>Citation tools facilitate your workflow by </a:t>
            </a:r>
            <a:r>
              <a:rPr b="1"/>
              <a:t>collecting, organizing, and formatting citations</a:t>
            </a:r>
            <a:r>
              <a:rPr/>
              <a:t>, as well as </a:t>
            </a:r>
            <a:r>
              <a:rPr b="1"/>
              <a:t>providing storage</a:t>
            </a:r>
            <a:r>
              <a:rPr/>
              <a:t> for pdfs or notes</a:t>
            </a:r>
          </a:p>
          <a:p>
            <a:pPr lvl="0" indent="0" marL="0">
              <a:buNone/>
            </a:pPr>
            <a:r>
              <a:rPr b="1"/>
              <a:t>Make Zotero a habit!</a:t>
            </a:r>
          </a:p>
          <a:p>
            <a:pPr lvl="0" indent="0" marL="0">
              <a:buNone/>
            </a:pPr>
            <a:r>
              <a:rPr/>
              <a:t>Zotero can be your go-to tool for saving and citing studies, from assignments to thesis.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 Check-In</a:t>
            </a:r>
          </a:p>
        </p:txBody>
      </p:sp>
      <p:sp>
        <p:nvSpPr>
          <p:cNvPr id="3" name="Content Placeholder 2"/>
          <p:cNvSpPr>
            <a:spLocks noGrp="1"/>
          </p:cNvSpPr>
          <p:nvPr>
            <p:ph idx="1"/>
          </p:nvPr>
        </p:nvSpPr>
        <p:spPr/>
        <p:txBody>
          <a:bodyPr/>
          <a:lstStyle/>
          <a:p>
            <a:pPr lvl="0" indent="0" marL="0">
              <a:buNone/>
            </a:pPr>
            <a:r>
              <a:rPr b="1"/>
              <a:t>Where are we at?</a:t>
            </a:r>
          </a:p>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citing and referencing scientific papers?</a:t>
            </a:r>
          </a:p>
          <a:p>
            <a:pPr lvl="0" indent="-457189" marL="457189">
              <a:buAutoNum type="alphaLcPeriod"/>
            </a:pPr>
            <a:r>
              <a:rPr/>
              <a:t>I have never heard of it before.</a:t>
            </a:r>
          </a:p>
          <a:p>
            <a:pPr lvl="0" indent="-457189" marL="457189">
              <a:buAutoNum type="alphaLcPeriod"/>
            </a:pPr>
            <a:r>
              <a:rPr/>
              <a:t>I have heard of it but have never worked with it.</a:t>
            </a:r>
          </a:p>
          <a:p>
            <a:pPr lvl="0" indent="-457189" marL="457189">
              <a:buAutoNum type="alphaLcPeriod"/>
            </a:pPr>
            <a:r>
              <a:rPr/>
              <a:t>I have basic understanding and experience with it.</a:t>
            </a:r>
          </a:p>
          <a:p>
            <a:pPr lvl="0" indent="-457189" marL="457189">
              <a:buAutoNum type="alphaLcPeriod"/>
            </a:pPr>
            <a:r>
              <a:rPr/>
              <a:t>I am very familiar and have worked with it extensively.</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457189" marL="457189">
              <a:buAutoNum type="alphaLcPeriod"/>
            </a:pPr>
            <a:r>
              <a:rPr/>
              <a:t>1</a:t>
            </a:r>
          </a:p>
          <a:p>
            <a:pPr lvl="0" indent="-457189" marL="457189">
              <a:buAutoNum type="alphaLcPeriod"/>
            </a:pPr>
            <a:r>
              <a:rPr/>
              <a:t>2</a:t>
            </a:r>
          </a:p>
          <a:p>
            <a:pPr lvl="0" indent="-457189" marL="457189">
              <a:buAutoNum type="alphaLcPeriod"/>
            </a:pPr>
            <a:r>
              <a:rPr/>
              <a:t>3</a:t>
            </a:r>
          </a:p>
          <a:p>
            <a:pPr lvl="0" indent="-457189" marL="457189">
              <a:buAutoNum type="alphaLcPeriod"/>
            </a:pPr>
            <a:r>
              <a:rPr/>
              <a:t>4</a:t>
            </a:r>
          </a:p>
          <a:p>
            <a:pPr lvl="0" indent="-457189" marL="457189">
              <a:buAutoNum type="alphaLcPeriod"/>
            </a:pPr>
            <a:r>
              <a:rPr/>
              <a:t>5</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b="1"/>
              <a:t>What do we see in the results?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a:t>
            </a:r>
          </a:p>
        </p:txBody>
      </p:sp>
      <p:sp>
        <p:nvSpPr>
          <p:cNvPr id="3" name="Content Placeholder 2"/>
          <p:cNvSpPr>
            <a:spLocks noGrp="1"/>
          </p:cNvSpPr>
          <p:nvPr>
            <p:ph idx="1"/>
          </p:nvPr>
        </p:nvSpPr>
        <p:spPr/>
        <p:txBody>
          <a:bodyPr/>
          <a:lstStyle/>
          <a:p>
            <a:pPr lvl="0" indent="0" marL="0">
              <a:buNone/>
            </a:pPr>
            <a:r>
              <a:rPr/>
              <a:t>See you next session :)</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in-class activity</a:t>
            </a:r>
          </a:p>
        </p:txBody>
      </p:sp>
      <p:sp>
        <p:nvSpPr>
          <p:cNvPr id="3" name="Content Placeholder 2"/>
          <p:cNvSpPr>
            <a:spLocks noGrp="1"/>
          </p:cNvSpPr>
          <p:nvPr>
            <p:ph idx="1"/>
          </p:nvPr>
        </p:nvSpPr>
        <p:spPr/>
        <p:txBody>
          <a:bodyPr/>
          <a:lstStyle/>
          <a:p>
            <a:pPr lvl="0"/>
            <a:r>
              <a:rPr b="1"/>
              <a:t>Activity</a:t>
            </a:r>
            <a:r>
              <a:rPr/>
              <a:t>: Get in a pair, navigate a literature database (Google Scholar), find a paper of your choice with its full text, analyse the citations and the reference list. Note what features you see and share in class.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CREDiT Contribution Statement - TO DO</a:t>
            </a:r>
          </a:p>
        </p:txBody>
      </p:sp>
      <p:sp>
        <p:nvSpPr>
          <p:cNvPr id="3" name="Content Placeholder 2"/>
          <p:cNvSpPr>
            <a:spLocks noGrp="1"/>
          </p:cNvSpPr>
          <p:nvPr>
            <p:ph idx="1"/>
          </p:nvPr>
        </p:nvSpPr>
        <p:spPr/>
        <p:txBody>
          <a:bodyPr/>
          <a:lstStyle/>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October 6, 2020</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67</Words>
  <Application>Microsoft Macintosh PowerPoint</Application>
  <PresentationFormat>Widescreen</PresentationFormat>
  <Paragraphs>23</Paragraphs>
  <Slides>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Aptos ExtraBold</vt:lpstr>
      <vt:lpstr>Arial</vt:lpstr>
      <vt:lpstr>Calibri</vt:lpstr>
      <vt:lpstr>Courier New</vt:lpstr>
      <vt:lpstr>Wingdings</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Citing made simple: A practical guide for Zotero</dc:title>
  <dc:creator>Tejaswini Sharma</dc:creator>
  <cp:keywords/>
  <dcterms:created xsi:type="dcterms:W3CDTF">2026-10-12T01:54:59Z</dcterms:created>
  <dcterms:modified xsi:type="dcterms:W3CDTF">2026-10-12T01:54:59Z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csl">
    <vt:lpwstr>apa.csl</vt:lpwstr>
  </property>
  <property fmtid="{D5CDD505-2E9C-101B-9397-08002B2CF9AE}" pid="7" name="date">
    <vt:lpwstr>October 6, 2020</vt:lpwstr>
  </property>
  <property fmtid="{D5CDD505-2E9C-101B-9397-08002B2CF9AE}" pid="8" name="date-format">
    <vt:lpwstr>long</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revealjs-plugins">
    <vt:lpwstr/>
  </property>
  <property fmtid="{D5CDD505-2E9C-101B-9397-08002B2CF9AE}" pid="14" name="toc-title">
    <vt:lpwstr>Table of contents</vt:lpwstr>
  </property>
</Properties>
</file>