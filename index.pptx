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notesMaster" Target="notesMasters/notesMaster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If you are short on time, provide these prerequisites to your learners as part of the preparation for this session. Remind them that they can download Zotero also later when starting the practical part.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p>
          <a:p>
            <a:pPr lvl="0" indent="0" marL="0">
              <a:buNone/>
            </a:pPr>
          </a:p>
          <a:p>
            <a:pPr lvl="0" indent="0" marL="0">
              <a:buNone/>
            </a:pPr>
            <a:r>
              <a:rPr b="1"/>
              <a:t>Instructor Notes</a:t>
            </a:r>
            <a:r>
              <a:rPr/>
              <a:t>:</a:t>
            </a:r>
          </a:p>
          <a:p>
            <a:pPr lvl="0" indent="0" marL="0">
              <a:buNone/>
            </a:pPr>
          </a:p>
          <a:p>
            <a:pPr lvl="0"/>
            <a:r>
              <a:rPr b="1"/>
              <a:t>Aim</a:t>
            </a:r>
            <a:r>
              <a:rPr/>
              <a:t>: This first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goals will be revisited throughout the session for reflection and self-assessment. Avoid explaining each goal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while reading a research paper. Use the image as a visual anchor to reinforce where citations appear in a paper. Avoid going into citation styles here; the goal is conceptual clarity, not technical mastery.</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References appear at the end of a paper and provide the full details needed to locate the source. This will allow you to access the ‘source of the information’ and see for yourself what the paper entails. 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references while reading a research paper. Use the image as a visual anchor to reinforce where references appear in a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goal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 </a:t>
            </a: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gives a very brief overview of Zotero.</a:t>
            </a:r>
            <a:br/>
            <a:r>
              <a:rPr/>
              <a:t>Zotero is a citation tool that helps you collect, organise, and cite your sources in one place.</a:t>
            </a:r>
            <a:br/>
            <a:r>
              <a:rPr/>
              <a:t>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goal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goal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goal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submodule. Please answer honestly based on how confident you feel now. </a:t>
            </a:r>
            <a:r>
              <a:rPr b="1"/>
              <a:t>Instructor Notes</a:t>
            </a:r>
            <a:r>
              <a:rPr/>
              <a:t>: The purpose is to compare pre- and post-submodule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 - </a:t>
            </a:r>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a:t>
            </a:r>
          </a:p>
          <a:p>
            <a:pPr lvl="0" indent="0" marL="0">
              <a:buNone/>
            </a:pPr>
          </a:p>
          <a:p>
            <a:pPr lvl="0" indent="0" marL="0">
              <a:buNone/>
            </a:pP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hyperlink" Target="https://www.zotero.org/download/" TargetMode="External" /><Relationship Id="rId4" Type="http://schemas.openxmlformats.org/officeDocument/2006/relationships/hyperlink" Target="https://cran.rstudio.com/" TargetMode="External" /><Relationship Id="rId5" Type="http://schemas.openxmlformats.org/officeDocument/2006/relationships/hyperlink" Target="https://posit.co/download/rstudio-desktop/"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 Id="rId3" Type="http://schemas.openxmlformats.org/officeDocument/2006/relationships/image" Target="../media/image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1.xml" /><Relationship Id="rId3" Type="http://schemas.openxmlformats.org/officeDocument/2006/relationships/image" Target="../media/image4.jp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doi.org/xx.xxx/yyyy"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Citing made simple: A practical guide for Zotero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2020-09-30</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a:t>
            </a:r>
          </a:p>
        </p:txBody>
      </p:sp>
      <p:sp>
        <p:nvSpPr>
          <p:cNvPr id="3" name="Content Placeholder 2"/>
          <p:cNvSpPr>
            <a:spLocks noGrp="1"/>
          </p:cNvSpPr>
          <p:nvPr>
            <p:ph idx="1"/>
          </p:nvPr>
        </p:nvSpPr>
        <p:spPr/>
        <p:txBody>
          <a:bodyPr/>
          <a:lstStyle/>
          <a:p>
            <a:pPr lvl="0" indent="0" marL="0">
              <a:buNone/>
            </a:pPr>
            <a:r>
              <a:rPr/>
              <a:t>This work was originally created by Pat Callahan and Dejana Damjanovic under a CC-BY-SA 4.0 </a:t>
            </a:r>
            <a:r>
              <a:rPr>
                <a:hlinkClick r:id="rId3"/>
              </a:rPr>
              <a:t>Creative Commons Attribution 4.0 International License</a:t>
            </a:r>
            <a:r>
              <a:rPr/>
              <a:t> and a CC0 1.0 </a:t>
            </a:r>
            <a:r>
              <a:rPr>
                <a:hlinkClick r:id="rId4"/>
              </a:rPr>
              <a:t>Creative Commons Universal</a:t>
            </a:r>
            <a:r>
              <a:rPr/>
              <a:t> licence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CC-BY-SA 4.0 </a:t>
            </a:r>
            <a:r>
              <a:rPr>
                <a:hlinkClick r:id="rId7"/>
              </a:rPr>
              <a:t>Creative Commons Attribution 4.0 International SA License</a:t>
            </a:r>
            <a:r>
              <a:rPr/>
              <a:t>. permits unrestricted re-use, distribution, and reproduction in any medium, provided the original work is properly cited. If you remix, transform, or build upon the material, you must distribute your contributions under the same license as the original. Code snippets are dedicated to the public domain and licenced under a CC0 1.0 </a:t>
            </a:r>
            <a:r>
              <a:rPr>
                <a:hlinkClick r:id="rId8"/>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Sharma, Tejaswini (</a:t>
            </a:r>
            <a:r>
              <a:rPr>
                <a:hlinkClick r:id="rId2"/>
              </a:rPr>
              <a:t>Orcid-ID: 00009-0000-0305-9751</a:t>
            </a:r>
            <a:r>
              <a:rPr/>
              <a:t>)</a:t>
            </a:r>
          </a:p>
          <a:p>
            <a:pPr lvl="0" indent="0" marL="0">
              <a:buNone/>
            </a:pPr>
            <a:r>
              <a:rPr b="1"/>
              <a:t>Reviewer</a:t>
            </a:r>
            <a:r>
              <a:rPr/>
              <a:t>: Von Grebmer zu Wolfsthurn, Sarah (</a:t>
            </a:r>
            <a:r>
              <a:rPr>
                <a:hlinkClick r:id="rId3"/>
              </a:rPr>
              <a:t>Ordcid-ID: 0000-0002-6413-3895</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Prerequisites</a:t>
            </a:r>
          </a:p>
        </p:txBody>
      </p:sp>
      <p:sp>
        <p:nvSpPr>
          <p:cNvPr id="4" name="Text Placeholder 3"/>
          <p:cNvSpPr>
            <a:spLocks noGrp="1"/>
          </p:cNvSpPr>
          <p:nvPr>
            <p:ph idx="2" sz="half" type="body"/>
          </p:nvPr>
        </p:nvSpPr>
        <p:spPr/>
        <p:txBody>
          <a:bodyPr/>
          <a:lstStyle/>
          <a:p>
            <a:pPr lvl="0" indent="0" marL="0">
              <a:buNone/>
            </a:pPr>
            <a:r>
              <a:rPr b="1"/>
              <a:t>Important:</a:t>
            </a:r>
            <a:r>
              <a:rPr/>
              <a:t> Before completing this submodule, please carefully read the following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Zotero and Zotero Connector</a:t>
                      </a:r>
                    </a:p>
                  </a:txBody>
                </a:tc>
                <a:tc>
                  <a:txBody>
                    <a:bodyPr/>
                    <a:lstStyle/>
                    <a:p>
                      <a:pPr lvl="0" indent="0" marL="0">
                        <a:buNone/>
                      </a:pPr>
                      <a:r>
                        <a:rPr/>
                        <a:t>Citation tool and extension</a:t>
                      </a:r>
                    </a:p>
                  </a:txBody>
                </a:tc>
                <a:tc>
                  <a:txBody>
                    <a:bodyPr/>
                    <a:lstStyle/>
                    <a:p>
                      <a:pPr lvl="0" indent="0" marL="0">
                        <a:buNone/>
                      </a:pPr>
                      <a:r>
                        <a:rPr>
                          <a:hlinkClick r:id="rId3"/>
                        </a:rPr>
                        <a:t>Download Link</a:t>
                      </a:r>
                    </a:p>
                  </a:txBody>
                </a:tc>
              </a:tr>
              <a:tr h="0">
                <a:tc>
                  <a:txBody>
                    <a:bodyPr/>
                    <a:lstStyle/>
                    <a:p>
                      <a:pPr lvl="0" indent="0" marL="0">
                        <a:buNone/>
                      </a:pPr>
                      <a:r>
                        <a:rPr/>
                        <a:t>R</a:t>
                      </a:r>
                    </a:p>
                  </a:txBody>
                </a:tc>
                <a:tc>
                  <a:txBody>
                    <a:bodyPr/>
                    <a:lstStyle/>
                    <a:p>
                      <a:pPr lvl="0" indent="0" marL="0">
                        <a:buNone/>
                      </a:pPr>
                      <a:r>
                        <a:rPr/>
                        <a:t>Version 4.5. or higher</a:t>
                      </a:r>
                    </a:p>
                  </a:txBody>
                </a:tc>
                <a:tc>
                  <a:txBody>
                    <a:bodyPr/>
                    <a:lstStyle/>
                    <a:p>
                      <a:pPr lvl="0" indent="0" marL="0">
                        <a:buNone/>
                      </a:pPr>
                      <a:r>
                        <a:rPr>
                          <a:hlinkClick r:id="rId4"/>
                        </a:rPr>
                        <a:t>Download Link</a:t>
                      </a:r>
                    </a:p>
                  </a:txBody>
                </a:tc>
              </a:tr>
              <a:tr h="0">
                <a:tc>
                  <a:txBody>
                    <a:bodyPr/>
                    <a:lstStyle/>
                    <a:p>
                      <a:pPr lvl="0" indent="0" marL="0">
                        <a:buNone/>
                      </a:pPr>
                      <a:r>
                        <a:rPr/>
                        <a:t>RStudio</a:t>
                      </a:r>
                    </a:p>
                  </a:txBody>
                </a:tc>
                <a:tc>
                  <a:txBody>
                    <a:bodyPr/>
                    <a:lstStyle/>
                    <a:p>
                      <a:pPr lvl="0" indent="0" marL="0">
                        <a:buNone/>
                      </a:pPr>
                      <a:r>
                        <a:rPr/>
                        <a:t>Version 2026.01.1+403 or higher</a:t>
                      </a:r>
                    </a:p>
                  </a:txBody>
                </a:tc>
                <a:tc>
                  <a:txBody>
                    <a:bodyPr/>
                    <a:lstStyle/>
                    <a:p>
                      <a:pPr lvl="0" indent="0" marL="0">
                        <a:buNone/>
                      </a:pPr>
                      <a:r>
                        <a:rPr>
                          <a:hlinkClick r:id="rId5"/>
                        </a:rPr>
                        <a:t>Download Link</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Prerequisites (cont.)</a:t>
            </a:r>
          </a:p>
        </p:txBody>
      </p:sp>
      <p:sp>
        <p:nvSpPr>
          <p:cNvPr id="4" name="Text Placeholder 3"/>
          <p:cNvSpPr>
            <a:spLocks noGrp="1"/>
          </p:cNvSpPr>
          <p:nvPr>
            <p:ph idx="2" sz="half" type="body"/>
          </p:nvPr>
        </p:nvSpPr>
        <p:spPr/>
        <p:txBody>
          <a:bodyPr/>
          <a:lstStyle/>
          <a:p>
            <a:pPr lvl="0"/>
            <a:r>
              <a:rPr/>
              <a:t>Familiarity with the concept of </a:t>
            </a:r>
            <a:r>
              <a:rPr b="1"/>
              <a:t>literature review</a:t>
            </a:r>
            <a:r>
              <a:rPr/>
              <a:t>; how and where to access scientific papers, such as </a:t>
            </a:r>
            <a:r>
              <a:rPr i="1"/>
              <a:t>Google Scholar</a:t>
            </a:r>
            <a:r>
              <a:rPr/>
              <a:t>.</a:t>
            </a:r>
          </a:p>
        </p:txBody>
      </p:sp>
      <p:pic>
        <p:nvPicPr>
          <p:cNvPr descr="images/GoogleScholar.png" id="0" name="Picture 1"/>
          <p:cNvPicPr>
            <a:picLocks noGrp="1" noChangeAspect="1"/>
          </p:cNvPicPr>
          <p:nvPr/>
        </p:nvPicPr>
        <p:blipFill>
          <a:blip r:embed="rId3"/>
          <a:stretch>
            <a:fillRect/>
          </a:stretch>
        </p:blipFill>
        <p:spPr bwMode="auto">
          <a:xfrm>
            <a:off x="3568700" y="863600"/>
            <a:ext cx="5105400" cy="30607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b="1"/>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What are citations and references?</a:t>
            </a:r>
          </a:p>
        </p:txBody>
      </p:sp>
      <p:sp>
        <p:nvSpPr>
          <p:cNvPr id="4" name="Text Placeholder 3"/>
          <p:cNvSpPr>
            <a:spLocks noGrp="1"/>
          </p:cNvSpPr>
          <p:nvPr>
            <p:ph idx="2" sz="half" type="body"/>
          </p:nvPr>
        </p:nvSpPr>
        <p:spPr/>
        <p:txBody>
          <a:bodyPr/>
          <a:lstStyle/>
          <a:p>
            <a:pPr lvl="0" indent="0" marL="0">
              <a:buNone/>
            </a:pPr>
            <a:r>
              <a:rPr b="1"/>
              <a:t>A small thought experiment..</a:t>
            </a:r>
          </a:p>
          <a:p>
            <a:pPr lvl="0" indent="0" marL="0">
              <a:buNone/>
            </a:pPr>
            <a:r>
              <a:rPr/>
              <a:t>Imagine reading various scientific papers to collect knowledge (</a:t>
            </a:r>
            <a:r>
              <a:rPr i="1"/>
              <a:t>= reviewing the literature</a:t>
            </a:r>
            <a:r>
              <a:rPr/>
              <a:t>). When you share this knowledge with someone, they would ask: </a:t>
            </a:r>
            <a:r>
              <a:rPr b="1"/>
              <a:t>“Where did you read this?”</a:t>
            </a:r>
          </a:p>
        </p:txBody>
      </p:sp>
      <p:pic>
        <p:nvPicPr>
          <p:cNvPr descr="images/01_source_meme.png" id="0" name="Picture 1"/>
          <p:cNvPicPr>
            <a:picLocks noGrp="1" noChangeAspect="1"/>
          </p:cNvPicPr>
          <p:nvPr/>
        </p:nvPicPr>
        <p:blipFill>
          <a:blip r:embed="rId3"/>
          <a:stretch>
            <a:fillRect/>
          </a:stretch>
        </p:blipFill>
        <p:spPr bwMode="auto">
          <a:xfrm>
            <a:off x="3568700" y="1244600"/>
            <a:ext cx="5105400" cy="17907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Copyright: © FastArcher.</a:t>
            </a:r>
          </a:p>
        </p:txBody>
      </p:sp>
      <p:sp>
        <p:nvSpPr>
          <p:cNvPr id="3" name="Content Placeholder 2"/>
          <p:cNvSpPr>
            <a:spLocks noGrp="1"/>
          </p:cNvSpPr>
          <p:nvPr>
            <p:ph idx="1"/>
          </p:nvPr>
        </p:nvSpPr>
        <p:spPr/>
        <p:txBody>
          <a:bodyPr/>
          <a:lstStyle/>
          <a:p>
            <a:pPr lvl="0" indent="0" marL="0">
              <a:buNone/>
            </a:pPr>
            <a:r>
              <a:rPr/>
              <a:t>Thus, you need to </a:t>
            </a:r>
            <a:r>
              <a:rPr b="1"/>
              <a:t>cite</a:t>
            </a:r>
            <a:r>
              <a:rPr/>
              <a:t> the source of your knowledge; in this case, a scientific paper.</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What are citations and references?</a:t>
            </a:r>
          </a:p>
        </p:txBody>
      </p:sp>
      <p:sp>
        <p:nvSpPr>
          <p:cNvPr id="4" name="Text Placeholder 3"/>
          <p:cNvSpPr>
            <a:spLocks noGrp="1"/>
          </p:cNvSpPr>
          <p:nvPr>
            <p:ph idx="2" sz="half" type="body"/>
          </p:nvPr>
        </p:nvSpPr>
        <p:spPr/>
        <p:txBody>
          <a:bodyPr/>
          <a:lstStyle/>
          <a:p>
            <a:pPr lvl="0"/>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3568700" y="2108200"/>
            <a:ext cx="5105400" cy="5842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What are citations and references? (cont.)</a:t>
            </a:r>
          </a:p>
        </p:txBody>
      </p:sp>
      <p:sp>
        <p:nvSpPr>
          <p:cNvPr id="4" name="Text Placeholder 3"/>
          <p:cNvSpPr>
            <a:spLocks noGrp="1"/>
          </p:cNvSpPr>
          <p:nvPr>
            <p:ph idx="2" sz="half" type="body"/>
          </p:nvPr>
        </p:nvSpPr>
        <p:spPr/>
        <p:txBody>
          <a:bodyPr/>
          <a:lstStyle/>
          <a:p>
            <a:pPr lvl="0"/>
            <a:r>
              <a:rPr/>
              <a:t>Whereas, </a:t>
            </a:r>
            <a:r>
              <a:rPr b="1"/>
              <a:t>references</a:t>
            </a:r>
            <a:r>
              <a:rPr/>
              <a:t> are the </a:t>
            </a:r>
            <a:r>
              <a:rPr b="1"/>
              <a:t>full bibliographic details</a:t>
            </a:r>
            <a:r>
              <a:rPr/>
              <a:t> listed at the end of a paper (</a:t>
            </a:r>
            <a:r>
              <a:rPr b="1"/>
              <a:t>aksnes_citations_2019?</a:t>
            </a:r>
            <a:r>
              <a:rPr/>
              <a:t>).</a:t>
            </a:r>
          </a:p>
        </p:txBody>
      </p:sp>
      <p:pic>
        <p:nvPicPr>
          <p:cNvPr descr="images/03_reference_example.jpg" id="0" name="Picture 1"/>
          <p:cNvPicPr>
            <a:picLocks noGrp="1" noChangeAspect="1"/>
          </p:cNvPicPr>
          <p:nvPr/>
        </p:nvPicPr>
        <p:blipFill>
          <a:blip r:embed="rId3"/>
          <a:stretch>
            <a:fillRect/>
          </a:stretch>
        </p:blipFill>
        <p:spPr bwMode="auto">
          <a:xfrm>
            <a:off x="3568700" y="1803400"/>
            <a:ext cx="5105400" cy="11811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they needed?</a:t>
            </a:r>
          </a:p>
        </p:txBody>
      </p:sp>
      <p:sp>
        <p:nvSpPr>
          <p:cNvPr id="3" name="Content Placeholder 2"/>
          <p:cNvSpPr>
            <a:spLocks noGrp="1"/>
          </p:cNvSpPr>
          <p:nvPr>
            <p:ph idx="1"/>
          </p:nvPr>
        </p:nvSpPr>
        <p:spPr/>
        <p:txBody>
          <a:bodyPr/>
          <a:lstStyle/>
          <a:p>
            <a:pPr lvl="0" indent="0" marL="0">
              <a:buNone/>
            </a:pPr>
            <a:r>
              <a:rPr/>
              <a:t>From (</a:t>
            </a:r>
            <a:r>
              <a:rPr b="1"/>
              <a:t>aksnes_citations_2019?</a:t>
            </a:r>
            <a:r>
              <a:rPr/>
              <a:t>):</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342900" marL="685800">
              <a:buAutoNum type="arabicPeriod"/>
            </a:pPr>
            <a:r>
              <a:rPr/>
              <a:t>Author: all authors’ last names and initials.</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342900" marL="685800">
              <a:buAutoNum type="arabicPeriod"/>
            </a:pPr>
            <a:r>
              <a:rPr/>
              <a:t>Author: all authors’ last names and initials.</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a:p>
            <a:pPr lvl="0" indent="0" marL="0">
              <a:buNone/>
            </a:pPr>
            <a:r>
              <a:rPr b="1"/>
              <a:t>Note:</a:t>
            </a:r>
            <a:r>
              <a:rPr/>
              <a:t> The </a:t>
            </a:r>
            <a:r>
              <a:rPr i="1"/>
              <a:t>exact formatting</a:t>
            </a:r>
            <a:r>
              <a:rPr/>
              <a:t> depends on the citation format.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876300"/>
                <a:gridCol w="1600200"/>
                <a:gridCol w="1003300"/>
                <a:gridCol w="4749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APA</a:t>
                      </a:r>
                    </a:p>
                  </a:txBody>
                </a:tc>
                <a:tc>
                  <a:txBody>
                    <a:bodyPr/>
                    <a:lstStyle/>
                    <a:p>
                      <a:pPr lvl="0" indent="0" marL="0">
                        <a:buNone/>
                      </a:pPr>
                      <a:r>
                        <a:rPr/>
                        <a:t>Social sciences (e.g., psychology, education)</a:t>
                      </a:r>
                    </a:p>
                  </a:txBody>
                </a:tc>
                <a:tc>
                  <a:txBody>
                    <a:bodyPr/>
                    <a:lstStyle/>
                    <a:p>
                      <a:pPr lvl="0" indent="0" marL="0">
                        <a:buNone/>
                      </a:pPr>
                      <a:r>
                        <a:rPr/>
                        <a:t>(Smith &amp; Lee, 2023)</a:t>
                      </a:r>
                    </a:p>
                  </a:txBody>
                </a:tc>
                <a:tc>
                  <a:txBody>
                    <a:bodyPr/>
                    <a:lstStyle/>
                    <a:p>
                      <a:pPr lvl="0" indent="0" marL="0">
                        <a:buNone/>
                      </a:pPr>
                      <a:r>
                        <a:rPr/>
                        <a:t>Smith, J., &amp; Lee, K. (2023). Title of the article. </a:t>
                      </a:r>
                      <a:r>
                        <a:rPr i="1"/>
                        <a:t>Journal Name</a:t>
                      </a:r>
                      <a:r>
                        <a:rPr/>
                        <a:t>, 12(3), 123–145. </a:t>
                      </a:r>
                      <a:r>
                        <a:rPr>
                          <a:hlinkClick r:id="rId3"/>
                        </a:rPr>
                        <a:t>https://doi.org/xx.xxx/yyyy</a:t>
                      </a:r>
                      <a:r>
                        <a:rPr/>
                        <a:t> ​</a:t>
                      </a:r>
                    </a:p>
                  </a:txBody>
                </a:tc>
              </a:tr>
              <a:tr h="0">
                <a:tc>
                  <a:txBody>
                    <a:bodyPr/>
                    <a:lstStyle/>
                    <a:p>
                      <a:pPr lvl="0" indent="0" marL="0">
                        <a:buNone/>
                      </a:pPr>
                      <a:r>
                        <a:rPr/>
                        <a:t>MLA</a:t>
                      </a:r>
                    </a:p>
                  </a:txBody>
                </a:tc>
                <a:tc>
                  <a:txBody>
                    <a:bodyPr/>
                    <a:lstStyle/>
                    <a:p>
                      <a:pPr lvl="0" indent="0" marL="0">
                        <a:buNone/>
                      </a:pPr>
                      <a:r>
                        <a:rPr/>
                        <a:t>Humanities (e.g., literature, languages)</a:t>
                      </a:r>
                    </a:p>
                  </a:txBody>
                </a:tc>
                <a:tc>
                  <a:txBody>
                    <a:bodyPr/>
                    <a:lstStyle/>
                    <a:p>
                      <a:pPr lvl="0" indent="0" marL="0">
                        <a:buNone/>
                      </a:pPr>
                      <a:r>
                        <a:rPr/>
                        <a:t>(Smith and Lee 123)</a:t>
                      </a:r>
                    </a:p>
                  </a:txBody>
                </a:tc>
                <a:tc>
                  <a:txBody>
                    <a:bodyPr/>
                    <a:lstStyle/>
                    <a:p>
                      <a:pPr lvl="0" indent="0" marL="0">
                        <a:buNone/>
                      </a:pPr>
                      <a:r>
                        <a:rPr/>
                        <a:t>Smith, John, and Karen Lee. “Title of the Article.” Journal Name, vol. 12, no. 3, 2023, pp. 123–145. ​</a:t>
                      </a:r>
                    </a:p>
                  </a:txBody>
                </a:tc>
              </a:tr>
              <a:tr h="0">
                <a:tc>
                  <a:txBody>
                    <a:bodyPr/>
                    <a:lstStyle/>
                    <a:p>
                      <a:pPr lvl="0" indent="0" marL="0">
                        <a:buNone/>
                      </a:pPr>
                      <a:r>
                        <a:rPr/>
                        <a:t>Chicago (Notes-Biblio)</a:t>
                      </a:r>
                    </a:p>
                  </a:txBody>
                </a:tc>
                <a:tc>
                  <a:txBody>
                    <a:bodyPr/>
                    <a:lstStyle/>
                    <a:p>
                      <a:pPr lvl="0" indent="0" marL="0">
                        <a:buNone/>
                      </a:pPr>
                      <a:r>
                        <a:rPr/>
                        <a:t>Humanities (e.g., history, arts (footnotes/endnotes)</a:t>
                      </a:r>
                    </a:p>
                  </a:txBody>
                </a:tc>
                <a:tc>
                  <a:txBody>
                    <a:bodyPr/>
                    <a:lstStyle/>
                    <a:p>
                      <a:pPr lvl="0" indent="0" marL="0">
                        <a:buNone/>
                      </a:pPr>
                      <a:r>
                        <a:rPr/>
                        <a:t>¹ or (see note 1)</a:t>
                      </a:r>
                    </a:p>
                  </a:txBody>
                </a:tc>
                <a:tc>
                  <a:txBody>
                    <a:bodyPr/>
                    <a:lstStyle/>
                    <a:p>
                      <a:pPr lvl="0" indent="0" marL="0">
                        <a:buNone/>
                      </a:pPr>
                      <a:r>
                        <a:rPr/>
                        <a:t>Smith, John, and Karen Lee. “Title of the Article.” Journal Name 12, no. 3 (2023): 123–145. ​</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 (cont.)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876300"/>
                <a:gridCol w="1600200"/>
                <a:gridCol w="1003300"/>
                <a:gridCol w="4749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Chicago (Author‑Date)</a:t>
                      </a:r>
                    </a:p>
                  </a:txBody>
                </a:tc>
                <a:tc>
                  <a:txBody>
                    <a:bodyPr/>
                    <a:lstStyle/>
                    <a:p>
                      <a:pPr lvl="0" indent="0" marL="0">
                        <a:buNone/>
                      </a:pPr>
                      <a:r>
                        <a:rPr/>
                        <a:t>Natural and social sciences</a:t>
                      </a:r>
                    </a:p>
                  </a:txBody>
                </a:tc>
                <a:tc>
                  <a:txBody>
                    <a:bodyPr/>
                    <a:lstStyle/>
                    <a:p>
                      <a:pPr lvl="0" indent="0" marL="0">
                        <a:buNone/>
                      </a:pPr>
                      <a:r>
                        <a:rPr/>
                        <a:t>(Smith and Lee 2023, 123)</a:t>
                      </a:r>
                    </a:p>
                  </a:txBody>
                </a:tc>
                <a:tc>
                  <a:txBody>
                    <a:bodyPr/>
                    <a:lstStyle/>
                    <a:p>
                      <a:pPr lvl="0" indent="0" marL="0">
                        <a:buNone/>
                      </a:pPr>
                      <a:r>
                        <a:rPr/>
                        <a:t>Smith, John, and Karen Lee. 2023. “Title of the Article.” Journal Name 12 (3): 123–145.</a:t>
                      </a:r>
                    </a:p>
                  </a:txBody>
                </a:tc>
              </a:tr>
              <a:tr h="0">
                <a:tc>
                  <a:txBody>
                    <a:bodyPr/>
                    <a:lstStyle/>
                    <a:p>
                      <a:pPr lvl="0" indent="0" marL="0">
                        <a:buNone/>
                      </a:pPr>
                      <a:r>
                        <a:rPr/>
                        <a:t>IEEE</a:t>
                      </a:r>
                    </a:p>
                  </a:txBody>
                </a:tc>
                <a:tc>
                  <a:txBody>
                    <a:bodyPr/>
                    <a:lstStyle/>
                    <a:p>
                      <a:pPr lvl="0" indent="0" marL="0">
                        <a:buNone/>
                      </a:pPr>
                      <a:r>
                        <a:rPr/>
                        <a:t>STEM fields (e.g., engineering, computer science)</a:t>
                      </a:r>
                    </a:p>
                  </a:txBody>
                </a:tc>
                <a:tc>
                  <a:txBody>
                    <a:bodyPr/>
                    <a:lstStyle/>
                    <a:p>
                      <a:pPr lvl="0" indent="0" marL="0">
                        <a:buNone/>
                      </a:pPr>
                      <a:r>
                        <a:rPr/>
                        <a:t>“</a:t>
                      </a:r>
                      <a:r>
                        <a:rPr i="1"/>
                        <a:t>…sample text…</a:t>
                      </a:r>
                      <a:r>
                        <a:rPr/>
                        <a:t> [13]”</a:t>
                      </a:r>
                    </a:p>
                  </a:txBody>
                </a:tc>
                <a:tc>
                  <a:txBody>
                    <a:bodyPr/>
                    <a:lstStyle/>
                    <a:p>
                      <a:pPr lvl="0" indent="0" marL="0">
                        <a:buNone/>
                      </a:pPr>
                      <a:r>
                        <a:rPr/>
                        <a:t>[13] J. Smith and K. Lee, “Title of the article,” Journal Name, vol. 12, no. 3, pp. 123–145, 2023.</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Short exercise</a:t>
            </a:r>
          </a:p>
        </p:txBody>
      </p:sp>
      <p:sp>
        <p:nvSpPr>
          <p:cNvPr id="3" name="Content Placeholder 2"/>
          <p:cNvSpPr>
            <a:spLocks noGrp="1"/>
          </p:cNvSpPr>
          <p:nvPr>
            <p:ph idx="1"/>
          </p:nvPr>
        </p:nvSpPr>
        <p:spPr/>
        <p:txBody>
          <a:bodyPr/>
          <a:lstStyle/>
          <a:p>
            <a:pPr lvl="0" indent="0" marL="0">
              <a:buNone/>
            </a:pPr>
            <a:r>
              <a:rPr/>
              <a:t>Use a minute to think about which citation format is used in </a:t>
            </a:r>
            <a:r>
              <a:rPr b="1"/>
              <a:t>your field</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at this point?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Brief overview of Zotero</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pic>
        <p:nvPicPr>
          <p:cNvPr descr="images/04_zotero_interface.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0">
              <a:buNone/>
            </a:pPr>
            <a:r>
              <a:rPr b="1"/>
              <a:t>Tip:</a:t>
            </a:r>
          </a:p>
          <a:p>
            <a:pPr lvl="0" indent="0" marL="0">
              <a:buNone/>
            </a:pPr>
            <a:r>
              <a:rPr/>
              <a:t>Since this is a self-paced tutorial, </a:t>
            </a:r>
            <a:r>
              <a:rPr i="1"/>
              <a:t>take your time</a:t>
            </a:r>
            <a:r>
              <a:rPr/>
              <a:t> on navigating it; and it can be finished at home as well. We will have a </a:t>
            </a:r>
            <a:r>
              <a:rPr b="1"/>
              <a:t>check-in moment</a:t>
            </a:r>
            <a:r>
              <a:rPr/>
              <a:t> at the end of this session and discuss any remaining questions.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
        <p:nvSpPr>
          <p:cNvPr id="3" name="Content Placeholder 2"/>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342900" marL="342900">
              <a:buAutoNum startAt="2" type="arabicPeriod"/>
            </a:pPr>
            <a:r>
              <a:rPr b="1"/>
              <a:t>Share your thoughts with the group.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0">
              <a:buNone/>
            </a:pPr>
            <a:r>
              <a:rPr b="1"/>
              <a:t>Make Zotero a habit!</a:t>
            </a:r>
          </a:p>
          <a:p>
            <a:pPr lvl="0" indent="0" marL="0">
              <a:buNone/>
            </a:pPr>
            <a:r>
              <a:rPr/>
              <a:t>Zotero can be your go-to tool for saving and citing studies, from assignments to thesis.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 Check-In</a:t>
            </a:r>
          </a:p>
        </p:txBody>
      </p:sp>
      <p:sp>
        <p:nvSpPr>
          <p:cNvPr id="3" name="Content Placeholder 2"/>
          <p:cNvSpPr>
            <a:spLocks noGrp="1"/>
          </p:cNvSpPr>
          <p:nvPr>
            <p:ph idx="1"/>
          </p:nvPr>
        </p:nvSpPr>
        <p:spPr/>
        <p:txBody>
          <a:bodyPr/>
          <a:lstStyle/>
          <a:p>
            <a:pPr lvl="0" indent="0" marL="0">
              <a:buNone/>
            </a:pPr>
            <a:r>
              <a:rPr b="1"/>
              <a:t>Where are we at?</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b="1"/>
              <a:t>What do we see in the results?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a:t>
            </a:r>
          </a:p>
        </p:txBody>
      </p:sp>
      <p:sp>
        <p:nvSpPr>
          <p:cNvPr id="3" name="Content Placeholder 2"/>
          <p:cNvSpPr>
            <a:spLocks noGrp="1"/>
          </p:cNvSpPr>
          <p:nvPr>
            <p:ph idx="1"/>
          </p:nvPr>
        </p:nvSpPr>
        <p:spPr/>
        <p:txBody>
          <a:bodyPr/>
          <a:lstStyle/>
          <a:p>
            <a:pPr lvl="0" indent="0" marL="0">
              <a:buNone/>
            </a:pPr>
            <a:r>
              <a:rPr/>
              <a:t>See you next session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in-class activity</a:t>
            </a:r>
          </a:p>
        </p:txBody>
      </p:sp>
      <p:sp>
        <p:nvSpPr>
          <p:cNvPr id="3" name="Content Placeholder 2"/>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CREDiT Contribution Statement - TO DO</a:t>
            </a:r>
          </a:p>
        </p:txBody>
      </p:sp>
      <p:sp>
        <p:nvSpPr>
          <p:cNvPr id="3" name="Content Placeholder 2"/>
          <p:cNvSpPr>
            <a:spLocks noGrp="1"/>
          </p:cNvSpPr>
          <p:nvPr>
            <p:ph idx="1"/>
          </p:nvPr>
        </p:nvSpPr>
        <p:spPr/>
        <p:txBody>
          <a:bodyPr/>
          <a:lstStyle/>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dc:creator>
  <cp:keywords/>
  <dcterms:created xsi:type="dcterms:W3CDTF">2026-09-28T01:16:50Z</dcterms:created>
  <dcterms:modified xsi:type="dcterms:W3CDTF">2026-09-28T01:16:50Z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references.bib</vt:lpwstr>
  </property>
  <property fmtid="{D5CDD505-2E9C-101B-9397-08002B2CF9AE}" pid="5" name="by-author">
    <vt:lpwstr/>
  </property>
  <property fmtid="{D5CDD505-2E9C-101B-9397-08002B2CF9AE}" pid="6" name="csl">
    <vt:lpwstr>apa.csl</vt:lpwstr>
  </property>
  <property fmtid="{D5CDD505-2E9C-101B-9397-08002B2CF9AE}" pid="7" name="date">
    <vt:lpwstr>2020-09-30</vt:lpwstr>
  </property>
  <property fmtid="{D5CDD505-2E9C-101B-9397-08002B2CF9AE}" pid="8" name="footer">
    <vt:lpwstr>hello there footer</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